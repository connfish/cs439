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MSpypXoH/EDpYEKMJrcLeFLfD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CC4FAE-66E8-42F5-8EDA-F91CB2B5EFE6}">
  <a:tblStyle styleId="{1DCC4FAE-66E8-42F5-8EDA-F91CB2B5EFE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0bfa4b96a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0bfa4b96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dc6aada9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dc6aada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dc6aada9f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dc6aada9f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dc6aada9f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dc6aada9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dc6aada9f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dc6aada9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dc6aada9f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dc6aada9f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dc6aada9f_0_2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dc6aada9f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adc6aada9f_0_193"/>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g3adc6aada9f_0_193"/>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g3adc6aada9f_0_19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3adc6aada9f_0_197"/>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g3adc6aada9f_0_19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adc6aada9f_0_200"/>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g3adc6aada9f_0_200"/>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g3adc6aada9f_0_20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adc6aada9f_0_20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g3adc6aada9f_0_204"/>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g3adc6aada9f_0_204"/>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g3adc6aada9f_0_20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adc6aada9f_0_20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g3adc6aada9f_0_20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adc6aada9f_0_212"/>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g3adc6aada9f_0_212"/>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g3adc6aada9f_0_2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adc6aada9f_0_216"/>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g3adc6aada9f_0_21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adc6aada9f_0_21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3adc6aada9f_0_21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g3adc6aada9f_0_21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g3adc6aada9f_0_219"/>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g3adc6aada9f_0_21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adc6aada9f_0_225"/>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g3adc6aada9f_0_22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adc6aada9f_0_228"/>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g3adc6aada9f_0_228"/>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g3adc6aada9f_0_22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adc6aada9f_0_23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50" name="Shape 50"/>
        <p:cNvGrpSpPr/>
        <p:nvPr/>
      </p:nvGrpSpPr>
      <p:grpSpPr>
        <a:xfrm>
          <a:off x="0" y="0"/>
          <a:ext cx="0" cy="0"/>
          <a:chOff x="0" y="0"/>
          <a:chExt cx="0" cy="0"/>
        </a:xfrm>
      </p:grpSpPr>
      <p:sp>
        <p:nvSpPr>
          <p:cNvPr id="51" name="Google Shape;51;g3adc6aada9f_0_2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52" name="Google Shape;52;g3adc6aada9f_0_23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53" name="Google Shape;53;g3adc6aada9f_0_2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g3adc6aada9f_0_2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g3adc6aada9f_0_2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adc6aada9f_0_1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g3adc6aada9f_0_18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g3adc6aada9f_0_18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hyperlink" Target="https://www.kaggle.com/datasets/ericstanley/us-stock-market-history-data-csv?select=history.csv" TargetMode="Externa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1" Type="http://schemas.openxmlformats.org/officeDocument/2006/relationships/hyperlink" Target="https://dsatlse.github.io/projects/2020/hrp/?utm_source=chatgpt.com" TargetMode="External"/><Relationship Id="rId10" Type="http://schemas.openxmlformats.org/officeDocument/2006/relationships/hyperlink" Target="https://papers.ssrn.com/sol3/papers.cfm?abstract_id=2708678&amp;utm_source=chatgpt.com" TargetMode="External"/><Relationship Id="rId13" Type="http://schemas.openxmlformats.org/officeDocument/2006/relationships/hyperlink" Target="https://dsatlse.github.io/projects/2020/hrp/" TargetMode="External"/><Relationship Id="rId12" Type="http://schemas.openxmlformats.org/officeDocument/2006/relationships/hyperlink" Target="https://dsatlse.github.io/projects/2020/hrp/?utm_source=chatgpt.com" TargetMode="External"/><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strategyquant.com/doc/strategyquant/walk-forward-optimization/?utm_source=chatgpt.com" TargetMode="External"/><Relationship Id="rId4" Type="http://schemas.openxmlformats.org/officeDocument/2006/relationships/hyperlink" Target="https://strategyquant.com/doc/strategyquant/walk-forward-optimization/?utm_source=chatgpt.com" TargetMode="External"/><Relationship Id="rId9" Type="http://schemas.openxmlformats.org/officeDocument/2006/relationships/hyperlink" Target="https://papers.ssrn.com/sol3/papers.cfm?abstract_id=2708678&amp;utm_source=chatgpt.com" TargetMode="External"/><Relationship Id="rId15" Type="http://schemas.openxmlformats.org/officeDocument/2006/relationships/hyperlink" Target="https://dsatlse.github.io/projects/2020/hrp/" TargetMode="External"/><Relationship Id="rId14" Type="http://schemas.openxmlformats.org/officeDocument/2006/relationships/hyperlink" Target="https://dsatlse.github.io/projects/2020/hrp/" TargetMode="External"/><Relationship Id="rId17" Type="http://schemas.openxmlformats.org/officeDocument/2006/relationships/hyperlink" Target="https://portfoliooptimizer.io/blog/beyond-hierarchical-risk-parity-hierarchical-clustering-based-risk-parity/?utm_source=chatgpt.com" TargetMode="External"/><Relationship Id="rId16" Type="http://schemas.openxmlformats.org/officeDocument/2006/relationships/hyperlink" Target="https://portfoliooptimizer.io/blog/beyond-hierarchical-risk-parity-hierarchical-clustering-based-risk-parity/?utm_source=chatgpt.com" TargetMode="External"/><Relationship Id="rId5" Type="http://schemas.openxmlformats.org/officeDocument/2006/relationships/hyperlink" Target="https://strategyquant.com/doc/strategyquant/walk-forward-optimization/?utm_source=chatgpt.com" TargetMode="External"/><Relationship Id="rId6" Type="http://schemas.openxmlformats.org/officeDocument/2006/relationships/hyperlink" Target="https://pyportfolioopt.readthedocs.io/en/latest/?utm_source=chatgpt.com" TargetMode="External"/><Relationship Id="rId7" Type="http://schemas.openxmlformats.org/officeDocument/2006/relationships/hyperlink" Target="https://pyportfolioopt.readthedocs.io/en/latest/?utm_source=chatgpt.com" TargetMode="External"/><Relationship Id="rId8" Type="http://schemas.openxmlformats.org/officeDocument/2006/relationships/hyperlink" Target="https://pyportfolioopt.readthedocs.io/en/latest/?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415611" y="992767"/>
            <a:ext cx="11360700" cy="27369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alibri"/>
              <a:buNone/>
            </a:pPr>
            <a:r>
              <a:rPr b="1" lang="en-US" sz="4800"/>
              <a:t>CS 439 25F P</a:t>
            </a:r>
            <a:r>
              <a:rPr b="1" lang="en-US" sz="4800"/>
              <a:t>ortfolio Optimization with </a:t>
            </a:r>
            <a:r>
              <a:rPr b="1" lang="en-US" sz="4800">
                <a:solidFill>
                  <a:srgbClr val="0B5394"/>
                </a:solidFill>
              </a:rPr>
              <a:t>Hierarchical Clustering</a:t>
            </a:r>
            <a:endParaRPr b="1">
              <a:solidFill>
                <a:srgbClr val="0B5394"/>
              </a:solidFill>
            </a:endParaRPr>
          </a:p>
        </p:txBody>
      </p:sp>
      <p:sp>
        <p:nvSpPr>
          <p:cNvPr id="61" name="Google Shape;61;p1"/>
          <p:cNvSpPr txBox="1"/>
          <p:nvPr>
            <p:ph idx="1" type="subTitle"/>
          </p:nvPr>
        </p:nvSpPr>
        <p:spPr>
          <a:xfrm>
            <a:off x="415600" y="3778833"/>
            <a:ext cx="11360700" cy="1056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ctr">
              <a:lnSpc>
                <a:spcPct val="90000"/>
              </a:lnSpc>
              <a:spcBef>
                <a:spcPts val="0"/>
              </a:spcBef>
              <a:spcAft>
                <a:spcPts val="0"/>
              </a:spcAft>
              <a:buClr>
                <a:schemeClr val="dk1"/>
              </a:buClr>
              <a:buSzPct val="64864"/>
              <a:buNone/>
            </a:pPr>
            <a:r>
              <a:rPr lang="en-US"/>
              <a:t>Group 8</a:t>
            </a:r>
            <a:endParaRPr/>
          </a:p>
          <a:p>
            <a:pPr indent="0" lvl="0" marL="0" rtl="0" algn="ctr">
              <a:lnSpc>
                <a:spcPct val="90000"/>
              </a:lnSpc>
              <a:spcBef>
                <a:spcPts val="1000"/>
              </a:spcBef>
              <a:spcAft>
                <a:spcPts val="0"/>
              </a:spcAft>
              <a:buClr>
                <a:schemeClr val="dk1"/>
              </a:buClr>
              <a:buSzPct val="64864"/>
              <a:buNone/>
            </a:pPr>
            <a:r>
              <a:rPr lang="en-US"/>
              <a:t>Justin Shaw [jfs199]</a:t>
            </a:r>
            <a:endParaRPr/>
          </a:p>
          <a:p>
            <a:pPr indent="0" lvl="0" marL="0" rtl="0" algn="ctr">
              <a:lnSpc>
                <a:spcPct val="90000"/>
              </a:lnSpc>
              <a:spcBef>
                <a:spcPts val="1000"/>
              </a:spcBef>
              <a:spcAft>
                <a:spcPts val="0"/>
              </a:spcAft>
              <a:buClr>
                <a:schemeClr val="dk1"/>
              </a:buClr>
              <a:buSzPct val="64864"/>
              <a:buNone/>
            </a:pPr>
            <a:r>
              <a:rPr lang="en-US"/>
              <a:t>Connor Fisher [cjf192]</a:t>
            </a:r>
            <a:endParaRPr/>
          </a:p>
          <a:p>
            <a:pPr indent="0" lvl="0" marL="0" rtl="0" algn="ctr">
              <a:lnSpc>
                <a:spcPct val="90000"/>
              </a:lnSpc>
              <a:spcBef>
                <a:spcPts val="1000"/>
              </a:spcBef>
              <a:spcAft>
                <a:spcPts val="0"/>
              </a:spcAft>
              <a:buClr>
                <a:schemeClr val="dk1"/>
              </a:buClr>
              <a:buSzPct val="64864"/>
              <a:buNone/>
            </a:pPr>
            <a:r>
              <a:rPr lang="en-US"/>
              <a:t>Jon Maxwell [jhm141]</a:t>
            </a:r>
            <a:endParaRPr/>
          </a:p>
          <a:p>
            <a:pPr indent="0" lvl="0" marL="0" rtl="0" algn="ctr">
              <a:lnSpc>
                <a:spcPct val="90000"/>
              </a:lnSpc>
              <a:spcBef>
                <a:spcPts val="1000"/>
              </a:spcBef>
              <a:spcAft>
                <a:spcPts val="0"/>
              </a:spcAft>
              <a:buClr>
                <a:schemeClr val="dk1"/>
              </a:buClr>
              <a:buSzPct val="64864"/>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Project Description</a:t>
            </a:r>
            <a:endParaRPr b="1"/>
          </a:p>
        </p:txBody>
      </p:sp>
      <p:sp>
        <p:nvSpPr>
          <p:cNvPr id="67" name="Google Shape;67;p2"/>
          <p:cNvSpPr txBox="1"/>
          <p:nvPr>
            <p:ph idx="1" type="body"/>
          </p:nvPr>
        </p:nvSpPr>
        <p:spPr>
          <a:xfrm>
            <a:off x="838200" y="1825625"/>
            <a:ext cx="10515600" cy="5032500"/>
          </a:xfrm>
          <a:prstGeom prst="rect">
            <a:avLst/>
          </a:prstGeom>
          <a:noFill/>
          <a:ln>
            <a:noFill/>
          </a:ln>
        </p:spPr>
        <p:txBody>
          <a:bodyPr anchorCtr="0" anchor="t" bIns="45700" lIns="91425" spcFirstLastPara="1" rIns="91425" wrap="square" tIns="45700">
            <a:noAutofit/>
          </a:bodyPr>
          <a:lstStyle/>
          <a:p>
            <a:pPr indent="-216534" lvl="0" marL="228600" rtl="0" algn="l">
              <a:lnSpc>
                <a:spcPct val="90000"/>
              </a:lnSpc>
              <a:spcBef>
                <a:spcPts val="1000"/>
              </a:spcBef>
              <a:spcAft>
                <a:spcPts val="0"/>
              </a:spcAft>
              <a:buClr>
                <a:schemeClr val="dk1"/>
              </a:buClr>
              <a:buSzPts val="2400"/>
              <a:buChar char="●"/>
            </a:pPr>
            <a:r>
              <a:rPr lang="en-US" sz="2400"/>
              <a:t>This project applies </a:t>
            </a:r>
            <a:r>
              <a:rPr b="1" lang="en-US" sz="2400"/>
              <a:t>hierarchical</a:t>
            </a:r>
            <a:r>
              <a:rPr b="1" lang="en-US" sz="2400"/>
              <a:t> Clustering</a:t>
            </a:r>
            <a:r>
              <a:rPr lang="en-US" sz="2400"/>
              <a:t> to construct a diversified investment portfolio. </a:t>
            </a:r>
            <a:endParaRPr sz="2400"/>
          </a:p>
          <a:p>
            <a:pPr indent="-216534" lvl="0" marL="228600" rtl="0" algn="l">
              <a:lnSpc>
                <a:spcPct val="90000"/>
              </a:lnSpc>
              <a:spcBef>
                <a:spcPts val="1600"/>
              </a:spcBef>
              <a:spcAft>
                <a:spcPts val="0"/>
              </a:spcAft>
              <a:buClr>
                <a:schemeClr val="dk1"/>
              </a:buClr>
              <a:buSzPts val="2400"/>
              <a:buChar char="●"/>
            </a:pPr>
            <a:r>
              <a:rPr lang="en-US" sz="2400"/>
              <a:t>Insead of tradition Mean-</a:t>
            </a:r>
            <a:r>
              <a:rPr lang="en-US" sz="2400"/>
              <a:t>Variance</a:t>
            </a:r>
            <a:r>
              <a:rPr lang="en-US" sz="2400"/>
              <a:t> optimization, which can be unstable due to messy</a:t>
            </a:r>
            <a:r>
              <a:rPr lang="en-US" sz="2400"/>
              <a:t> covariance estimates, we use </a:t>
            </a:r>
            <a:r>
              <a:rPr b="1" lang="en-US" sz="2400"/>
              <a:t>Hierarchical Risk Parity (HRP) </a:t>
            </a:r>
            <a:r>
              <a:rPr lang="en-US" sz="2400"/>
              <a:t>to group assets based on their correlation structure.</a:t>
            </a:r>
            <a:endParaRPr sz="2400"/>
          </a:p>
          <a:p>
            <a:pPr indent="-216534" lvl="0" marL="228600" rtl="0" algn="l">
              <a:lnSpc>
                <a:spcPct val="90000"/>
              </a:lnSpc>
              <a:spcBef>
                <a:spcPts val="1600"/>
              </a:spcBef>
              <a:spcAft>
                <a:spcPts val="0"/>
              </a:spcAft>
              <a:buSzPts val="2400"/>
              <a:buChar char="●"/>
            </a:pPr>
            <a:r>
              <a:rPr lang="en-US" sz="2400"/>
              <a:t>First, we collect </a:t>
            </a:r>
            <a:r>
              <a:rPr b="1" lang="en-US" sz="2400"/>
              <a:t>historical price data </a:t>
            </a:r>
            <a:r>
              <a:rPr lang="en-US" sz="2400"/>
              <a:t>to compute returns and a correlation matrix. </a:t>
            </a:r>
            <a:endParaRPr sz="2400"/>
          </a:p>
          <a:p>
            <a:pPr indent="-216534" lvl="0" marL="228600" rtl="0" algn="l">
              <a:lnSpc>
                <a:spcPct val="90000"/>
              </a:lnSpc>
              <a:spcBef>
                <a:spcPts val="1600"/>
              </a:spcBef>
              <a:spcAft>
                <a:spcPts val="0"/>
              </a:spcAft>
              <a:buSzPts val="2400"/>
              <a:buChar char="●"/>
            </a:pPr>
            <a:r>
              <a:rPr lang="en-US" sz="2400"/>
              <a:t>Then, we use a </a:t>
            </a:r>
            <a:r>
              <a:rPr b="1" lang="en-US" sz="2400"/>
              <a:t>dendrogram</a:t>
            </a:r>
            <a:r>
              <a:rPr lang="en-US" sz="2400"/>
              <a:t> to cluster similar assets</a:t>
            </a:r>
            <a:endParaRPr sz="2400"/>
          </a:p>
          <a:p>
            <a:pPr indent="-216534" lvl="0" marL="228600" rtl="0" algn="l">
              <a:lnSpc>
                <a:spcPct val="90000"/>
              </a:lnSpc>
              <a:spcBef>
                <a:spcPts val="1600"/>
              </a:spcBef>
              <a:spcAft>
                <a:spcPts val="0"/>
              </a:spcAft>
              <a:buSzPts val="2400"/>
              <a:buChar char="●"/>
            </a:pPr>
            <a:r>
              <a:rPr lang="en-US" sz="2400"/>
              <a:t>The resulting HRP portfolio is then compared to an </a:t>
            </a:r>
            <a:r>
              <a:rPr b="1" lang="en-US" sz="2400"/>
              <a:t>Equal-Weight portfolio</a:t>
            </a:r>
            <a:r>
              <a:rPr lang="en-US" sz="2400"/>
              <a:t> and a </a:t>
            </a:r>
            <a:r>
              <a:rPr b="1" lang="en-US" sz="2400"/>
              <a:t>markowitz portfolio</a:t>
            </a:r>
            <a:r>
              <a:rPr lang="en-US" sz="2400"/>
              <a:t> using metrics such as volatility, Sharpe ratio, and max drawdown.</a:t>
            </a:r>
            <a:endParaRPr sz="2400"/>
          </a:p>
          <a:p>
            <a:pPr indent="-216534" lvl="0" marL="228600" rtl="0" algn="l">
              <a:lnSpc>
                <a:spcPct val="90000"/>
              </a:lnSpc>
              <a:spcBef>
                <a:spcPts val="1600"/>
              </a:spcBef>
              <a:spcAft>
                <a:spcPts val="1600"/>
              </a:spcAft>
              <a:buSzPts val="2400"/>
              <a:buChar char="●"/>
            </a:pPr>
            <a:r>
              <a:rPr lang="en-US" sz="2400"/>
              <a:t>The goal is to show the </a:t>
            </a:r>
            <a:r>
              <a:rPr b="1" lang="en-US" sz="2400"/>
              <a:t>hierarchical clustering</a:t>
            </a:r>
            <a:r>
              <a:rPr lang="en-US" sz="2400"/>
              <a:t> improves diversification and portfolio stability.</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Dataset Description and Sample Snapshots</a:t>
            </a:r>
            <a:endParaRPr b="1"/>
          </a:p>
        </p:txBody>
      </p:sp>
      <p:sp>
        <p:nvSpPr>
          <p:cNvPr id="73" name="Google Shape;73;p4"/>
          <p:cNvSpPr txBox="1"/>
          <p:nvPr>
            <p:ph idx="1" type="body"/>
          </p:nvPr>
        </p:nvSpPr>
        <p:spPr>
          <a:xfrm>
            <a:off x="838200" y="1825625"/>
            <a:ext cx="10515600" cy="5279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Dataset Name: </a:t>
            </a:r>
            <a:r>
              <a:rPr lang="en-US" u="sng">
                <a:solidFill>
                  <a:schemeClr val="hlink"/>
                </a:solidFill>
                <a:hlinkClick r:id="rId3"/>
              </a:rPr>
              <a:t>US Stock Market History Data</a:t>
            </a:r>
            <a:r>
              <a:rPr lang="en-US"/>
              <a:t> (1.5 GB) (13 million rows)(from kaggle)</a:t>
            </a:r>
            <a:endParaRPr/>
          </a:p>
          <a:p>
            <a:pPr indent="-228600" lvl="1" marL="685800" rtl="0" algn="l">
              <a:lnSpc>
                <a:spcPct val="90000"/>
              </a:lnSpc>
              <a:spcBef>
                <a:spcPts val="500"/>
              </a:spcBef>
              <a:spcAft>
                <a:spcPts val="0"/>
              </a:spcAft>
              <a:buClr>
                <a:schemeClr val="dk1"/>
              </a:buClr>
              <a:buSzPts val="2400"/>
              <a:buChar char="○"/>
            </a:pPr>
            <a:r>
              <a:rPr lang="en-US"/>
              <a:t>Huge stock market data set with historical data for all US stocks and ETF's</a:t>
            </a:r>
            <a:endParaRPr/>
          </a:p>
          <a:p>
            <a:pPr indent="-190500" lvl="1" marL="685800" rtl="0" algn="l">
              <a:lnSpc>
                <a:spcPct val="90000"/>
              </a:lnSpc>
              <a:spcBef>
                <a:spcPts val="500"/>
              </a:spcBef>
              <a:spcAft>
                <a:spcPts val="0"/>
              </a:spcAft>
              <a:buSzPts val="1800"/>
              <a:buChar char="○"/>
            </a:pPr>
            <a:r>
              <a:rPr lang="en-US"/>
              <a:t>Vertices: 5174 (Different Symbols)</a:t>
            </a:r>
            <a:endParaRPr/>
          </a:p>
          <a:p>
            <a:pPr indent="-228600" lvl="1" marL="685800" rtl="0" algn="l">
              <a:lnSpc>
                <a:spcPct val="90000"/>
              </a:lnSpc>
              <a:spcBef>
                <a:spcPts val="500"/>
              </a:spcBef>
              <a:spcAft>
                <a:spcPts val="0"/>
              </a:spcAft>
              <a:buClr>
                <a:schemeClr val="dk1"/>
              </a:buClr>
              <a:buSzPts val="2400"/>
              <a:buChar char="○"/>
            </a:pPr>
            <a:r>
              <a:rPr lang="en-US"/>
              <a:t>Edges: 13735, k=3</a:t>
            </a:r>
            <a:endParaRPr/>
          </a:p>
          <a:p>
            <a:pPr indent="0" lvl="0" marL="0" rtl="0" algn="l">
              <a:lnSpc>
                <a:spcPct val="90000"/>
              </a:lnSpc>
              <a:spcBef>
                <a:spcPts val="500"/>
              </a:spcBef>
              <a:spcAft>
                <a:spcPts val="0"/>
              </a:spcAft>
              <a:buNone/>
            </a:pPr>
            <a:r>
              <a:t/>
            </a:r>
            <a:endParaRPr/>
          </a:p>
          <a:p>
            <a:pPr indent="0" lvl="0" marL="0" rtl="0" algn="l">
              <a:lnSpc>
                <a:spcPct val="90000"/>
              </a:lnSpc>
              <a:spcBef>
                <a:spcPts val="500"/>
              </a:spcBef>
              <a:spcAft>
                <a:spcPts val="0"/>
              </a:spcAft>
              <a:buNone/>
            </a:pPr>
            <a:r>
              <a:t/>
            </a:r>
            <a:endParaRPr/>
          </a:p>
          <a:p>
            <a:pPr indent="0" lvl="0" marL="0" rtl="0" algn="l">
              <a:lnSpc>
                <a:spcPct val="90000"/>
              </a:lnSpc>
              <a:spcBef>
                <a:spcPts val="500"/>
              </a:spcBef>
              <a:spcAft>
                <a:spcPts val="0"/>
              </a:spcAft>
              <a:buNone/>
            </a:pPr>
            <a:r>
              <a:t/>
            </a:r>
            <a:endParaRPr/>
          </a:p>
          <a:p>
            <a:pPr indent="0" lvl="0" marL="0" rtl="0" algn="l">
              <a:lnSpc>
                <a:spcPct val="90000"/>
              </a:lnSpc>
              <a:spcBef>
                <a:spcPts val="500"/>
              </a:spcBef>
              <a:spcAft>
                <a:spcPts val="0"/>
              </a:spcAft>
              <a:buNone/>
            </a:pPr>
            <a:r>
              <a:t/>
            </a:r>
            <a:endParaRPr/>
          </a:p>
          <a:p>
            <a:pPr indent="0" lvl="0" marL="0" rtl="0" algn="l">
              <a:lnSpc>
                <a:spcPct val="90000"/>
              </a:lnSpc>
              <a:spcBef>
                <a:spcPts val="500"/>
              </a:spcBef>
              <a:spcAft>
                <a:spcPts val="0"/>
              </a:spcAft>
              <a:buNone/>
            </a:pPr>
            <a:r>
              <a:t/>
            </a:r>
            <a:endParaRPr sz="1400"/>
          </a:p>
          <a:p>
            <a:pPr indent="0" lvl="0" marL="685800" rtl="0" algn="l">
              <a:lnSpc>
                <a:spcPct val="90000"/>
              </a:lnSpc>
              <a:spcBef>
                <a:spcPts val="500"/>
              </a:spcBef>
              <a:spcAft>
                <a:spcPts val="0"/>
              </a:spcAft>
              <a:buNone/>
            </a:pPr>
            <a:r>
              <a:t/>
            </a:r>
            <a:endParaRPr sz="1400"/>
          </a:p>
          <a:p>
            <a:pPr indent="0" lvl="0" marL="685800" rtl="0" algn="l">
              <a:lnSpc>
                <a:spcPct val="90000"/>
              </a:lnSpc>
              <a:spcBef>
                <a:spcPts val="500"/>
              </a:spcBef>
              <a:spcAft>
                <a:spcPts val="0"/>
              </a:spcAft>
              <a:buNone/>
            </a:pPr>
            <a:r>
              <a:t/>
            </a:r>
            <a:endParaRPr/>
          </a:p>
          <a:p>
            <a:pPr indent="0" lvl="0" marL="0" rtl="0" algn="l">
              <a:lnSpc>
                <a:spcPct val="90000"/>
              </a:lnSpc>
              <a:spcBef>
                <a:spcPts val="500"/>
              </a:spcBef>
              <a:spcAft>
                <a:spcPts val="0"/>
              </a:spcAft>
              <a:buNone/>
            </a:pPr>
            <a:r>
              <a:rPr lang="en-US"/>
              <a:t>                  </a:t>
            </a:r>
            <a:r>
              <a:rPr b="1" lang="en-US"/>
              <a:t>…</a:t>
            </a:r>
            <a:endParaRPr b="1"/>
          </a:p>
        </p:txBody>
      </p:sp>
      <p:pic>
        <p:nvPicPr>
          <p:cNvPr id="74" name="Google Shape;74;p4" title="Screenshot 2025-11-05 at 6.07.12 PM.png"/>
          <p:cNvPicPr preferRelativeResize="0"/>
          <p:nvPr/>
        </p:nvPicPr>
        <p:blipFill rotWithShape="1">
          <a:blip r:embed="rId4">
            <a:alphaModFix/>
          </a:blip>
          <a:srcRect b="77329" l="0" r="0" t="0"/>
          <a:stretch/>
        </p:blipFill>
        <p:spPr>
          <a:xfrm>
            <a:off x="2087925" y="3790075"/>
            <a:ext cx="8016149" cy="28767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a0bfa4b96a_0_24"/>
          <p:cNvSpPr txBox="1"/>
          <p:nvPr>
            <p:ph idx="1" type="body"/>
          </p:nvPr>
        </p:nvSpPr>
        <p:spPr>
          <a:xfrm>
            <a:off x="606575" y="1690825"/>
            <a:ext cx="10747500" cy="4774800"/>
          </a:xfrm>
          <a:prstGeom prst="rect">
            <a:avLst/>
          </a:prstGeom>
        </p:spPr>
        <p:txBody>
          <a:bodyPr anchorCtr="0" anchor="t" bIns="45700" lIns="91425" spcFirstLastPara="1" rIns="91425" wrap="square" tIns="45700">
            <a:noAutofit/>
          </a:bodyPr>
          <a:lstStyle/>
          <a:p>
            <a:pPr indent="0" lvl="0" marL="0" rtl="0" algn="l">
              <a:lnSpc>
                <a:spcPct val="70000"/>
              </a:lnSpc>
              <a:spcBef>
                <a:spcPts val="1000"/>
              </a:spcBef>
              <a:spcAft>
                <a:spcPts val="0"/>
              </a:spcAft>
              <a:buSzPts val="523"/>
              <a:buNone/>
            </a:pPr>
            <a:r>
              <a:rPr lang="en-US" sz="1530"/>
              <a:t>Symbol</a:t>
            </a:r>
            <a:endParaRPr sz="1530"/>
          </a:p>
          <a:p>
            <a:pPr indent="0" lvl="0" marL="0" rtl="0" algn="l">
              <a:lnSpc>
                <a:spcPct val="70000"/>
              </a:lnSpc>
              <a:spcBef>
                <a:spcPts val="1600"/>
              </a:spcBef>
              <a:spcAft>
                <a:spcPts val="0"/>
              </a:spcAft>
              <a:buSzPts val="523"/>
              <a:buNone/>
            </a:pPr>
            <a:r>
              <a:rPr lang="en-US" sz="1530"/>
              <a:t>HPQ    11725</a:t>
            </a:r>
            <a:endParaRPr sz="1530"/>
          </a:p>
          <a:p>
            <a:pPr indent="0" lvl="0" marL="0" rtl="0" algn="l">
              <a:lnSpc>
                <a:spcPct val="70000"/>
              </a:lnSpc>
              <a:spcBef>
                <a:spcPts val="1600"/>
              </a:spcBef>
              <a:spcAft>
                <a:spcPts val="0"/>
              </a:spcAft>
              <a:buSzPts val="523"/>
              <a:buNone/>
            </a:pPr>
            <a:r>
              <a:rPr lang="en-US" sz="1530"/>
              <a:t>LLY      11725</a:t>
            </a:r>
            <a:endParaRPr sz="1530"/>
          </a:p>
          <a:p>
            <a:pPr indent="0" lvl="0" marL="0" rtl="0" algn="l">
              <a:lnSpc>
                <a:spcPct val="70000"/>
              </a:lnSpc>
              <a:spcBef>
                <a:spcPts val="1600"/>
              </a:spcBef>
              <a:spcAft>
                <a:spcPts val="0"/>
              </a:spcAft>
              <a:buSzPts val="523"/>
              <a:buNone/>
            </a:pPr>
            <a:r>
              <a:rPr lang="en-US" sz="1530"/>
              <a:t>AP       11725</a:t>
            </a:r>
            <a:endParaRPr sz="1530"/>
          </a:p>
          <a:p>
            <a:pPr indent="0" lvl="0" marL="0" rtl="0" algn="l">
              <a:lnSpc>
                <a:spcPct val="70000"/>
              </a:lnSpc>
              <a:spcBef>
                <a:spcPts val="1600"/>
              </a:spcBef>
              <a:spcAft>
                <a:spcPts val="0"/>
              </a:spcAft>
              <a:buSzPts val="523"/>
              <a:buNone/>
            </a:pPr>
            <a:r>
              <a:rPr lang="en-US" sz="1530"/>
              <a:t>PHI      11725</a:t>
            </a:r>
            <a:endParaRPr sz="1530"/>
          </a:p>
          <a:p>
            <a:pPr indent="0" lvl="0" marL="0" rtl="0" algn="l">
              <a:lnSpc>
                <a:spcPct val="70000"/>
              </a:lnSpc>
              <a:spcBef>
                <a:spcPts val="1600"/>
              </a:spcBef>
              <a:spcAft>
                <a:spcPts val="0"/>
              </a:spcAft>
              <a:buSzPts val="523"/>
              <a:buNone/>
            </a:pPr>
            <a:r>
              <a:rPr lang="en-US" sz="1530"/>
              <a:t>PG       11725</a:t>
            </a:r>
            <a:endParaRPr sz="1530"/>
          </a:p>
          <a:p>
            <a:pPr indent="0" lvl="0" marL="0" rtl="0" algn="l">
              <a:lnSpc>
                <a:spcPct val="70000"/>
              </a:lnSpc>
              <a:spcBef>
                <a:spcPts val="1600"/>
              </a:spcBef>
              <a:spcAft>
                <a:spcPts val="0"/>
              </a:spcAft>
              <a:buSzPts val="523"/>
              <a:buNone/>
            </a:pPr>
            <a:r>
              <a:rPr lang="en-US" sz="1530"/>
              <a:t>         ...  </a:t>
            </a:r>
            <a:endParaRPr sz="1530"/>
          </a:p>
          <a:p>
            <a:pPr indent="0" lvl="0" marL="0" rtl="0" algn="l">
              <a:lnSpc>
                <a:spcPct val="70000"/>
              </a:lnSpc>
              <a:spcBef>
                <a:spcPts val="1600"/>
              </a:spcBef>
              <a:spcAft>
                <a:spcPts val="0"/>
              </a:spcAft>
              <a:buSzPts val="523"/>
              <a:buNone/>
            </a:pPr>
            <a:r>
              <a:rPr lang="en-US" sz="1530"/>
              <a:t>CLBR       120</a:t>
            </a:r>
            <a:endParaRPr sz="1530"/>
          </a:p>
          <a:p>
            <a:pPr indent="0" lvl="0" marL="0" rtl="0" algn="l">
              <a:lnSpc>
                <a:spcPct val="70000"/>
              </a:lnSpc>
              <a:spcBef>
                <a:spcPts val="1600"/>
              </a:spcBef>
              <a:spcAft>
                <a:spcPts val="0"/>
              </a:spcAft>
              <a:buSzPts val="523"/>
              <a:buNone/>
            </a:pPr>
            <a:r>
              <a:rPr lang="en-US" sz="1530"/>
              <a:t>AFJK       113</a:t>
            </a:r>
            <a:endParaRPr sz="1530"/>
          </a:p>
          <a:p>
            <a:pPr indent="0" lvl="0" marL="0" rtl="0" algn="l">
              <a:lnSpc>
                <a:spcPct val="70000"/>
              </a:lnSpc>
              <a:spcBef>
                <a:spcPts val="1600"/>
              </a:spcBef>
              <a:spcAft>
                <a:spcPts val="0"/>
              </a:spcAft>
              <a:buSzPts val="523"/>
              <a:buNone/>
            </a:pPr>
            <a:r>
              <a:rPr lang="en-US" sz="1530"/>
              <a:t>IROH        95</a:t>
            </a:r>
            <a:endParaRPr sz="1530"/>
          </a:p>
          <a:p>
            <a:pPr indent="0" lvl="0" marL="0" rtl="0" algn="l">
              <a:lnSpc>
                <a:spcPct val="70000"/>
              </a:lnSpc>
              <a:spcBef>
                <a:spcPts val="1600"/>
              </a:spcBef>
              <a:spcAft>
                <a:spcPts val="0"/>
              </a:spcAft>
              <a:buSzPts val="523"/>
              <a:buNone/>
            </a:pPr>
            <a:r>
              <a:rPr lang="en-US" sz="1530"/>
              <a:t>INBX        21</a:t>
            </a:r>
            <a:endParaRPr sz="1530"/>
          </a:p>
          <a:p>
            <a:pPr indent="0" lvl="0" marL="0" rtl="0" algn="l">
              <a:lnSpc>
                <a:spcPct val="70000"/>
              </a:lnSpc>
              <a:spcBef>
                <a:spcPts val="1600"/>
              </a:spcBef>
              <a:spcAft>
                <a:spcPts val="0"/>
              </a:spcAft>
              <a:buSzPts val="523"/>
              <a:buNone/>
            </a:pPr>
            <a:r>
              <a:rPr lang="en-US" sz="1530"/>
              <a:t>LGF.B        6</a:t>
            </a:r>
            <a:endParaRPr sz="1530"/>
          </a:p>
          <a:p>
            <a:pPr indent="0" lvl="0" marL="0" rtl="0" algn="l">
              <a:lnSpc>
                <a:spcPct val="70000"/>
              </a:lnSpc>
              <a:spcBef>
                <a:spcPts val="1600"/>
              </a:spcBef>
              <a:spcAft>
                <a:spcPts val="0"/>
              </a:spcAft>
              <a:buSzPts val="523"/>
              <a:buNone/>
            </a:pPr>
            <a:r>
              <a:rPr lang="en-US" sz="1530"/>
              <a:t>Mean: 4214.434790561551</a:t>
            </a:r>
            <a:endParaRPr sz="1530"/>
          </a:p>
          <a:p>
            <a:pPr indent="0" lvl="0" marL="0" rtl="0" algn="l">
              <a:lnSpc>
                <a:spcPct val="70000"/>
              </a:lnSpc>
              <a:spcBef>
                <a:spcPts val="1600"/>
              </a:spcBef>
              <a:spcAft>
                <a:spcPts val="0"/>
              </a:spcAft>
              <a:buSzPts val="523"/>
              <a:buNone/>
            </a:pPr>
            <a:r>
              <a:rPr lang="en-US" sz="1530"/>
              <a:t>Std: 3540.5842511500855</a:t>
            </a:r>
            <a:endParaRPr sz="1530"/>
          </a:p>
          <a:p>
            <a:pPr indent="0" lvl="0" marL="0" rtl="0" algn="l">
              <a:lnSpc>
                <a:spcPct val="70000"/>
              </a:lnSpc>
              <a:spcBef>
                <a:spcPts val="1600"/>
              </a:spcBef>
              <a:spcAft>
                <a:spcPts val="0"/>
              </a:spcAft>
              <a:buSzPts val="523"/>
              <a:buNone/>
            </a:pPr>
            <a:r>
              <a:t/>
            </a:r>
            <a:endParaRPr sz="1530"/>
          </a:p>
          <a:p>
            <a:pPr indent="0" lvl="0" marL="0" rtl="0" algn="l">
              <a:lnSpc>
                <a:spcPct val="70000"/>
              </a:lnSpc>
              <a:spcBef>
                <a:spcPts val="1600"/>
              </a:spcBef>
              <a:spcAft>
                <a:spcPts val="1600"/>
              </a:spcAft>
              <a:buSzPts val="523"/>
              <a:buNone/>
            </a:pPr>
            <a:r>
              <a:rPr lang="en-US" sz="1530"/>
              <a:t>Average Degree: 5.309</a:t>
            </a:r>
            <a:endParaRPr b="1" sz="1530"/>
          </a:p>
        </p:txBody>
      </p:sp>
      <p:sp>
        <p:nvSpPr>
          <p:cNvPr id="80" name="Google Shape;80;g3a0bfa4b96a_0_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Dataset Description and Sample Snapshots</a:t>
            </a:r>
            <a:endParaRPr b="1"/>
          </a:p>
        </p:txBody>
      </p:sp>
      <p:pic>
        <p:nvPicPr>
          <p:cNvPr id="81" name="Google Shape;81;g3a0bfa4b96a_0_24" title="Screenshot 2025-11-05 at 6.26.39 PM.png"/>
          <p:cNvPicPr preferRelativeResize="0"/>
          <p:nvPr/>
        </p:nvPicPr>
        <p:blipFill>
          <a:blip r:embed="rId3">
            <a:alphaModFix/>
          </a:blip>
          <a:stretch>
            <a:fillRect/>
          </a:stretch>
        </p:blipFill>
        <p:spPr>
          <a:xfrm>
            <a:off x="6595300" y="1743275"/>
            <a:ext cx="4925799" cy="3996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Questions to be Addressed</a:t>
            </a:r>
            <a:endParaRPr b="1"/>
          </a:p>
        </p:txBody>
      </p:sp>
      <p:sp>
        <p:nvSpPr>
          <p:cNvPr id="87" name="Google Shape;87;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68605" lvl="0" marL="228600" rtl="0" algn="l">
              <a:lnSpc>
                <a:spcPct val="90000"/>
              </a:lnSpc>
              <a:spcBef>
                <a:spcPts val="1000"/>
              </a:spcBef>
              <a:spcAft>
                <a:spcPts val="0"/>
              </a:spcAft>
              <a:buClr>
                <a:schemeClr val="dk1"/>
              </a:buClr>
              <a:buSzPct val="116666"/>
              <a:buChar char="●"/>
            </a:pPr>
            <a:r>
              <a:rPr lang="en-US"/>
              <a:t>Which asset clusters are considered “salient” in the hierarchical cluster tree (i.e., clusters that persist across multiple linkage heights / dendrogram levels)?</a:t>
            </a:r>
            <a:endParaRPr/>
          </a:p>
          <a:p>
            <a:pPr indent="-268605" lvl="0" marL="228600" rtl="0" algn="l">
              <a:lnSpc>
                <a:spcPct val="90000"/>
              </a:lnSpc>
              <a:spcBef>
                <a:spcPts val="1600"/>
              </a:spcBef>
              <a:spcAft>
                <a:spcPts val="0"/>
              </a:spcAft>
              <a:buClr>
                <a:schemeClr val="dk1"/>
              </a:buClr>
              <a:buSzPct val="116666"/>
              <a:buChar char="●"/>
            </a:pPr>
            <a:r>
              <a:rPr lang="en-US"/>
              <a:t>Do salient clusters exhibit correlations with portfolio characteristics such as risk contribution, average return, sector exposure, or market regime stability?</a:t>
            </a:r>
            <a:endParaRPr/>
          </a:p>
          <a:p>
            <a:pPr indent="-268605" lvl="0" marL="228600" rtl="0" algn="l">
              <a:lnSpc>
                <a:spcPct val="90000"/>
              </a:lnSpc>
              <a:spcBef>
                <a:spcPts val="1600"/>
              </a:spcBef>
              <a:spcAft>
                <a:spcPts val="0"/>
              </a:spcAft>
              <a:buClr>
                <a:schemeClr val="dk1"/>
              </a:buClr>
              <a:buSzPct val="116666"/>
              <a:buChar char="●"/>
            </a:pPr>
            <a:r>
              <a:rPr lang="en-US"/>
              <a:t>Given historical return and covariance data, can we predict the most probable cluster assignment for a new or previously unseen asset?</a:t>
            </a:r>
            <a:endParaRPr/>
          </a:p>
          <a:p>
            <a:pPr indent="-268605" lvl="0" marL="228600" rtl="0" algn="l">
              <a:lnSpc>
                <a:spcPct val="90000"/>
              </a:lnSpc>
              <a:spcBef>
                <a:spcPts val="1600"/>
              </a:spcBef>
              <a:spcAft>
                <a:spcPts val="0"/>
              </a:spcAft>
              <a:buClr>
                <a:schemeClr val="dk1"/>
              </a:buClr>
              <a:buSzPct val="116666"/>
              <a:buChar char="●"/>
            </a:pPr>
            <a:r>
              <a:rPr lang="en-US"/>
              <a:t>If we treat each cluster as a meta-asset, can we construct an inter-cluster interaction graph, and which clusters are the most “influential” under metrics such as PageRank or eigenvector centrality?</a:t>
            </a:r>
            <a:endParaRPr/>
          </a:p>
          <a:p>
            <a:pPr indent="-268605" lvl="0" marL="228600" rtl="0" algn="l">
              <a:lnSpc>
                <a:spcPct val="90000"/>
              </a:lnSpc>
              <a:spcBef>
                <a:spcPts val="1600"/>
              </a:spcBef>
              <a:spcAft>
                <a:spcPts val="1600"/>
              </a:spcAft>
              <a:buClr>
                <a:schemeClr val="dk1"/>
              </a:buClr>
              <a:buSzPct val="116666"/>
              <a:buChar char="●"/>
            </a:pPr>
            <a:r>
              <a:rPr lang="en-US"/>
              <a:t>How do capital allocation decisions differ between intra-cluster assets (assets in the same group) vs. inter-cluster pairs (assets in different groups), and what is their impact on diversification benefits?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18918"/>
              <a:buFont typeface="Calibri"/>
              <a:buNone/>
            </a:pPr>
            <a:r>
              <a:rPr b="1" lang="en-US"/>
              <a:t>Data Transformation </a:t>
            </a:r>
            <a:endParaRPr b="1"/>
          </a:p>
          <a:p>
            <a:pPr indent="0" lvl="0" marL="0" rtl="0" algn="l">
              <a:lnSpc>
                <a:spcPct val="90000"/>
              </a:lnSpc>
              <a:spcBef>
                <a:spcPts val="0"/>
              </a:spcBef>
              <a:spcAft>
                <a:spcPts val="0"/>
              </a:spcAft>
              <a:buClr>
                <a:schemeClr val="dk1"/>
              </a:buClr>
              <a:buSzPct val="118918"/>
              <a:buFont typeface="Calibri"/>
              <a:buNone/>
            </a:pPr>
            <a:r>
              <a:rPr b="1" lang="en-US"/>
              <a:t>Flowchart</a:t>
            </a:r>
            <a:endParaRPr b="1"/>
          </a:p>
        </p:txBody>
      </p:sp>
      <p:pic>
        <p:nvPicPr>
          <p:cNvPr id="93" name="Google Shape;93;p6" title="Data_Transformation_Flowchart_Portfolio_Pastel.png"/>
          <p:cNvPicPr preferRelativeResize="0"/>
          <p:nvPr/>
        </p:nvPicPr>
        <p:blipFill rotWithShape="1">
          <a:blip r:embed="rId3">
            <a:alphaModFix/>
          </a:blip>
          <a:srcRect b="0" l="0" r="0" t="0"/>
          <a:stretch/>
        </p:blipFill>
        <p:spPr>
          <a:xfrm>
            <a:off x="7139950" y="223475"/>
            <a:ext cx="3272350" cy="64110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Exploration Algorithms Used</a:t>
            </a:r>
            <a:endParaRPr b="1"/>
          </a:p>
        </p:txBody>
      </p:sp>
      <p:sp>
        <p:nvSpPr>
          <p:cNvPr id="99" name="Google Shape;99;p7"/>
          <p:cNvSpPr txBox="1"/>
          <p:nvPr>
            <p:ph idx="1" type="body"/>
          </p:nvPr>
        </p:nvSpPr>
        <p:spPr>
          <a:xfrm>
            <a:off x="838200" y="1825625"/>
            <a:ext cx="10515600" cy="4894200"/>
          </a:xfrm>
          <a:prstGeom prst="rect">
            <a:avLst/>
          </a:prstGeom>
          <a:noFill/>
          <a:ln>
            <a:noFill/>
          </a:ln>
        </p:spPr>
        <p:txBody>
          <a:bodyPr anchorCtr="0" anchor="t" bIns="45700" lIns="91425" spcFirstLastPara="1" rIns="91425" wrap="square" tIns="45700">
            <a:normAutofit fontScale="77500" lnSpcReduction="20000"/>
          </a:bodyPr>
          <a:lstStyle/>
          <a:p>
            <a:pPr indent="-188595" lvl="0" marL="228600" rtl="0" algn="l">
              <a:lnSpc>
                <a:spcPct val="90000"/>
              </a:lnSpc>
              <a:spcBef>
                <a:spcPts val="0"/>
              </a:spcBef>
              <a:spcAft>
                <a:spcPts val="0"/>
              </a:spcAft>
              <a:buClr>
                <a:schemeClr val="dk1"/>
              </a:buClr>
              <a:buSzPct val="116666"/>
              <a:buChar char="●"/>
            </a:pPr>
            <a:r>
              <a:rPr b="1" i="1" lang="en-US"/>
              <a:t>Data Preparation</a:t>
            </a:r>
            <a:endParaRPr b="1" i="1"/>
          </a:p>
          <a:p>
            <a:pPr indent="-252094" lvl="1" marL="685800" rtl="0" algn="l">
              <a:lnSpc>
                <a:spcPct val="90000"/>
              </a:lnSpc>
              <a:spcBef>
                <a:spcPts val="0"/>
              </a:spcBef>
              <a:spcAft>
                <a:spcPts val="0"/>
              </a:spcAft>
              <a:buClr>
                <a:schemeClr val="dk1"/>
              </a:buClr>
              <a:buSzPct val="147368"/>
              <a:buChar char="○"/>
            </a:pPr>
            <a:r>
              <a:rPr lang="en-US"/>
              <a:t>Data Cleaning &amp; Preprocessing</a:t>
            </a:r>
            <a:endParaRPr/>
          </a:p>
          <a:p>
            <a:pPr indent="-252094" lvl="1" marL="685800" rtl="0" algn="l">
              <a:lnSpc>
                <a:spcPct val="90000"/>
              </a:lnSpc>
              <a:spcBef>
                <a:spcPts val="0"/>
              </a:spcBef>
              <a:spcAft>
                <a:spcPts val="0"/>
              </a:spcAft>
              <a:buClr>
                <a:schemeClr val="dk1"/>
              </a:buClr>
              <a:buSzPct val="147368"/>
              <a:buChar char="○"/>
            </a:pPr>
            <a:r>
              <a:rPr lang="en-US"/>
              <a:t>(filter assets, align dates, forward-fill missing values)</a:t>
            </a:r>
            <a:endParaRPr/>
          </a:p>
          <a:p>
            <a:pPr indent="-252094" lvl="1" marL="685800" rtl="0" algn="l">
              <a:lnSpc>
                <a:spcPct val="90000"/>
              </a:lnSpc>
              <a:spcBef>
                <a:spcPts val="0"/>
              </a:spcBef>
              <a:spcAft>
                <a:spcPts val="0"/>
              </a:spcAft>
              <a:buClr>
                <a:schemeClr val="dk1"/>
              </a:buClr>
              <a:buSzPct val="147368"/>
              <a:buChar char="○"/>
            </a:pPr>
            <a:r>
              <a:rPr lang="en-US"/>
              <a:t>Log Return Computation</a:t>
            </a:r>
            <a:endParaRPr/>
          </a:p>
          <a:p>
            <a:pPr indent="-252094" lvl="1" marL="685800" rtl="0" algn="l">
              <a:lnSpc>
                <a:spcPct val="90000"/>
              </a:lnSpc>
              <a:spcBef>
                <a:spcPts val="0"/>
              </a:spcBef>
              <a:spcAft>
                <a:spcPts val="0"/>
              </a:spcAft>
              <a:buClr>
                <a:schemeClr val="dk1"/>
              </a:buClr>
              <a:buSzPct val="147368"/>
              <a:buChar char="○"/>
            </a:pPr>
            <a:r>
              <a:rPr lang="en-US"/>
              <a:t>Correlation Matrix Estimation from return series</a:t>
            </a:r>
            <a:endParaRPr/>
          </a:p>
          <a:p>
            <a:pPr indent="-188595" lvl="0" marL="228600" rtl="0" algn="l">
              <a:lnSpc>
                <a:spcPct val="90000"/>
              </a:lnSpc>
              <a:spcBef>
                <a:spcPts val="0"/>
              </a:spcBef>
              <a:spcAft>
                <a:spcPts val="0"/>
              </a:spcAft>
              <a:buClr>
                <a:schemeClr val="dk1"/>
              </a:buClr>
              <a:buSzPct val="116666"/>
              <a:buChar char="●"/>
            </a:pPr>
            <a:r>
              <a:rPr b="1" i="1" lang="en-US"/>
              <a:t>Clustering &amp; Structure Discovery</a:t>
            </a:r>
            <a:endParaRPr b="1" i="1"/>
          </a:p>
          <a:p>
            <a:pPr indent="-252094" lvl="1" marL="685800" rtl="0" algn="l">
              <a:lnSpc>
                <a:spcPct val="90000"/>
              </a:lnSpc>
              <a:spcBef>
                <a:spcPts val="0"/>
              </a:spcBef>
              <a:spcAft>
                <a:spcPts val="0"/>
              </a:spcAft>
              <a:buClr>
                <a:schemeClr val="dk1"/>
              </a:buClr>
              <a:buSzPct val="147368"/>
              <a:buChar char="○"/>
            </a:pPr>
            <a:r>
              <a:rPr lang="en-US"/>
              <a:t>Hierarchical Clustering</a:t>
            </a:r>
            <a:endParaRPr/>
          </a:p>
          <a:p>
            <a:pPr indent="-252094" lvl="1" marL="685800" rtl="0" algn="l">
              <a:lnSpc>
                <a:spcPct val="90000"/>
              </a:lnSpc>
              <a:spcBef>
                <a:spcPts val="0"/>
              </a:spcBef>
              <a:spcAft>
                <a:spcPts val="0"/>
              </a:spcAft>
              <a:buClr>
                <a:schemeClr val="dk1"/>
              </a:buClr>
              <a:buSzPct val="147368"/>
              <a:buChar char="○"/>
            </a:pPr>
            <a:r>
              <a:rPr lang="en-US"/>
              <a:t>(Ward’s Linkage + Dendrogram Interpretation)</a:t>
            </a:r>
            <a:endParaRPr/>
          </a:p>
          <a:p>
            <a:pPr indent="-252094" lvl="1" marL="685800" rtl="0" algn="l">
              <a:lnSpc>
                <a:spcPct val="90000"/>
              </a:lnSpc>
              <a:spcBef>
                <a:spcPts val="0"/>
              </a:spcBef>
              <a:spcAft>
                <a:spcPts val="0"/>
              </a:spcAft>
              <a:buClr>
                <a:schemeClr val="dk1"/>
              </a:buClr>
              <a:buSzPct val="147368"/>
              <a:buChar char="○"/>
            </a:pPr>
            <a:r>
              <a:rPr lang="en-US"/>
              <a:t>Cluster-Level Risk &amp; Return Profiling</a:t>
            </a:r>
            <a:endParaRPr/>
          </a:p>
          <a:p>
            <a:pPr indent="-188595" lvl="0" marL="228600" rtl="0" algn="l">
              <a:lnSpc>
                <a:spcPct val="90000"/>
              </a:lnSpc>
              <a:spcBef>
                <a:spcPts val="0"/>
              </a:spcBef>
              <a:spcAft>
                <a:spcPts val="0"/>
              </a:spcAft>
              <a:buClr>
                <a:schemeClr val="dk1"/>
              </a:buClr>
              <a:buSzPct val="116666"/>
              <a:buChar char="●"/>
            </a:pPr>
            <a:r>
              <a:rPr b="1" i="1" lang="en-US"/>
              <a:t>Portfolio Construction</a:t>
            </a:r>
            <a:endParaRPr b="1" i="1"/>
          </a:p>
          <a:p>
            <a:pPr indent="-252094" lvl="1" marL="685800" rtl="0" algn="l">
              <a:lnSpc>
                <a:spcPct val="90000"/>
              </a:lnSpc>
              <a:spcBef>
                <a:spcPts val="0"/>
              </a:spcBef>
              <a:spcAft>
                <a:spcPts val="0"/>
              </a:spcAft>
              <a:buClr>
                <a:schemeClr val="dk1"/>
              </a:buClr>
              <a:buSzPct val="147368"/>
              <a:buChar char="○"/>
            </a:pPr>
            <a:r>
              <a:rPr lang="en-US"/>
              <a:t>Hierarchical Risk Parity (HRP) for cluster-aware weight allocation</a:t>
            </a:r>
            <a:endParaRPr/>
          </a:p>
          <a:p>
            <a:pPr indent="-252094" lvl="1" marL="685800" rtl="0" algn="l">
              <a:lnSpc>
                <a:spcPct val="90000"/>
              </a:lnSpc>
              <a:spcBef>
                <a:spcPts val="0"/>
              </a:spcBef>
              <a:spcAft>
                <a:spcPts val="0"/>
              </a:spcAft>
              <a:buClr>
                <a:schemeClr val="dk1"/>
              </a:buClr>
              <a:buSzPct val="147368"/>
              <a:buChar char="○"/>
            </a:pPr>
            <a:r>
              <a:rPr lang="en-US"/>
              <a:t>Baseline Comparison Models:</a:t>
            </a:r>
            <a:endParaRPr/>
          </a:p>
          <a:p>
            <a:pPr indent="-317182" lvl="0" marL="914400" rtl="0" algn="l">
              <a:lnSpc>
                <a:spcPct val="90000"/>
              </a:lnSpc>
              <a:spcBef>
                <a:spcPts val="0"/>
              </a:spcBef>
              <a:spcAft>
                <a:spcPts val="0"/>
              </a:spcAft>
              <a:buSzPct val="75000"/>
              <a:buChar char="●"/>
            </a:pPr>
            <a:r>
              <a:rPr lang="en-US"/>
              <a:t>Minimum Variance Portfolio</a:t>
            </a:r>
            <a:endParaRPr/>
          </a:p>
          <a:p>
            <a:pPr indent="-317182" lvl="0" marL="914400" rtl="0" algn="l">
              <a:lnSpc>
                <a:spcPct val="90000"/>
              </a:lnSpc>
              <a:spcBef>
                <a:spcPts val="0"/>
              </a:spcBef>
              <a:spcAft>
                <a:spcPts val="0"/>
              </a:spcAft>
              <a:buSzPct val="75000"/>
              <a:buChar char="●"/>
            </a:pPr>
            <a:r>
              <a:rPr lang="en-US"/>
              <a:t>Equal Weight Portfolio</a:t>
            </a:r>
            <a:endParaRPr/>
          </a:p>
          <a:p>
            <a:pPr indent="-188595" lvl="0" marL="228600" rtl="0" algn="l">
              <a:lnSpc>
                <a:spcPct val="90000"/>
              </a:lnSpc>
              <a:spcBef>
                <a:spcPts val="0"/>
              </a:spcBef>
              <a:spcAft>
                <a:spcPts val="0"/>
              </a:spcAft>
              <a:buClr>
                <a:schemeClr val="dk1"/>
              </a:buClr>
              <a:buSzPct val="116666"/>
              <a:buChar char="●"/>
            </a:pPr>
            <a:r>
              <a:rPr b="1" i="1" lang="en-US"/>
              <a:t>Systemic Importance &amp; Evaluation</a:t>
            </a:r>
            <a:endParaRPr b="1" i="1"/>
          </a:p>
          <a:p>
            <a:pPr indent="-252094" lvl="1" marL="685800" rtl="0" algn="l">
              <a:lnSpc>
                <a:spcPct val="90000"/>
              </a:lnSpc>
              <a:spcBef>
                <a:spcPts val="0"/>
              </a:spcBef>
              <a:spcAft>
                <a:spcPts val="0"/>
              </a:spcAft>
              <a:buClr>
                <a:schemeClr val="dk1"/>
              </a:buClr>
              <a:buSzPct val="147368"/>
              <a:buChar char="○"/>
            </a:pPr>
            <a:r>
              <a:rPr lang="en-US"/>
              <a:t>Cluster-Level Risk Contribution Analysis</a:t>
            </a:r>
            <a:endParaRPr/>
          </a:p>
          <a:p>
            <a:pPr indent="-252094" lvl="1" marL="685800" rtl="0" algn="l">
              <a:lnSpc>
                <a:spcPct val="90000"/>
              </a:lnSpc>
              <a:spcBef>
                <a:spcPts val="0"/>
              </a:spcBef>
              <a:spcAft>
                <a:spcPts val="0"/>
              </a:spcAft>
              <a:buClr>
                <a:schemeClr val="dk1"/>
              </a:buClr>
              <a:buSzPct val="147368"/>
              <a:buChar char="○"/>
            </a:pPr>
            <a:r>
              <a:rPr lang="en-US"/>
              <a:t>(identifying influential clusters)</a:t>
            </a:r>
            <a:endParaRPr/>
          </a:p>
          <a:p>
            <a:pPr indent="-252094" lvl="1" marL="685800" rtl="0" algn="l">
              <a:lnSpc>
                <a:spcPct val="90000"/>
              </a:lnSpc>
              <a:spcBef>
                <a:spcPts val="0"/>
              </a:spcBef>
              <a:spcAft>
                <a:spcPts val="0"/>
              </a:spcAft>
              <a:buClr>
                <a:schemeClr val="dk1"/>
              </a:buClr>
              <a:buSzPct val="147368"/>
              <a:buChar char="○"/>
            </a:pPr>
            <a:r>
              <a:rPr lang="en-US"/>
              <a:t>Portfolio Performance Evaluation:</a:t>
            </a:r>
            <a:endParaRPr/>
          </a:p>
          <a:p>
            <a:pPr indent="-317182" lvl="0" marL="914400" rtl="0" algn="l">
              <a:lnSpc>
                <a:spcPct val="90000"/>
              </a:lnSpc>
              <a:spcBef>
                <a:spcPts val="0"/>
              </a:spcBef>
              <a:spcAft>
                <a:spcPts val="0"/>
              </a:spcAft>
              <a:buSzPct val="75000"/>
              <a:buChar char="●"/>
            </a:pPr>
            <a:r>
              <a:rPr lang="en-US"/>
              <a:t>Sharpe Ratio</a:t>
            </a:r>
            <a:endParaRPr/>
          </a:p>
          <a:p>
            <a:pPr indent="-317182" lvl="0" marL="914400" rtl="0" algn="l">
              <a:lnSpc>
                <a:spcPct val="90000"/>
              </a:lnSpc>
              <a:spcBef>
                <a:spcPts val="0"/>
              </a:spcBef>
              <a:spcAft>
                <a:spcPts val="0"/>
              </a:spcAft>
              <a:buSzPct val="75000"/>
              <a:buChar char="●"/>
            </a:pPr>
            <a:r>
              <a:rPr lang="en-US"/>
              <a:t>Volatility</a:t>
            </a:r>
            <a:endParaRPr/>
          </a:p>
          <a:p>
            <a:pPr indent="-317182" lvl="0" marL="914400" rtl="0" algn="l">
              <a:lnSpc>
                <a:spcPct val="90000"/>
              </a:lnSpc>
              <a:spcBef>
                <a:spcPts val="0"/>
              </a:spcBef>
              <a:spcAft>
                <a:spcPts val="0"/>
              </a:spcAft>
              <a:buSzPct val="75000"/>
              <a:buChar char="●"/>
            </a:pPr>
            <a:r>
              <a:rPr lang="en-US"/>
              <a:t>Maximum Drawdown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Computational Platform and Software Libraries Used</a:t>
            </a:r>
            <a:endParaRPr b="1"/>
          </a:p>
        </p:txBody>
      </p:sp>
      <p:sp>
        <p:nvSpPr>
          <p:cNvPr id="105" name="Google Shape;105;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01930" lvl="0" marL="228600" rtl="0" algn="l">
              <a:lnSpc>
                <a:spcPct val="90000"/>
              </a:lnSpc>
              <a:spcBef>
                <a:spcPts val="0"/>
              </a:spcBef>
              <a:spcAft>
                <a:spcPts val="0"/>
              </a:spcAft>
              <a:buClr>
                <a:schemeClr val="dk1"/>
              </a:buClr>
              <a:buSzPct val="116666"/>
              <a:buChar char="●"/>
            </a:pPr>
            <a:r>
              <a:rPr b="1" i="1" lang="en-US"/>
              <a:t>Preprocessing &amp; Data Handling</a:t>
            </a:r>
            <a:endParaRPr b="1" i="1"/>
          </a:p>
          <a:p>
            <a:pPr indent="-265430" lvl="1" marL="685800" rtl="0" algn="l">
              <a:lnSpc>
                <a:spcPct val="90000"/>
              </a:lnSpc>
              <a:spcBef>
                <a:spcPts val="0"/>
              </a:spcBef>
              <a:spcAft>
                <a:spcPts val="0"/>
              </a:spcAft>
              <a:buClr>
                <a:schemeClr val="dk1"/>
              </a:buClr>
              <a:buSzPct val="147368"/>
              <a:buChar char="○"/>
            </a:pPr>
            <a:r>
              <a:rPr lang="en-US"/>
              <a:t>P</a:t>
            </a:r>
            <a:r>
              <a:rPr lang="en-US"/>
              <a:t>ython: Pandas (tabular data), NumPy (numerical computing)</a:t>
            </a:r>
            <a:endParaRPr/>
          </a:p>
          <a:p>
            <a:pPr indent="-265430" lvl="1" marL="685800" rtl="0" algn="l">
              <a:lnSpc>
                <a:spcPct val="90000"/>
              </a:lnSpc>
              <a:spcBef>
                <a:spcPts val="0"/>
              </a:spcBef>
              <a:spcAft>
                <a:spcPts val="0"/>
              </a:spcAft>
              <a:buClr>
                <a:schemeClr val="dk1"/>
              </a:buClr>
              <a:buSzPct val="147368"/>
              <a:buChar char="○"/>
            </a:pPr>
            <a:r>
              <a:rPr lang="en-US"/>
              <a:t>PyArrow / Feather: fast storage for large price datasets</a:t>
            </a:r>
            <a:endParaRPr/>
          </a:p>
          <a:p>
            <a:pPr indent="-265430" lvl="1" marL="685800" rtl="0" algn="l">
              <a:lnSpc>
                <a:spcPct val="90000"/>
              </a:lnSpc>
              <a:spcBef>
                <a:spcPts val="0"/>
              </a:spcBef>
              <a:spcAft>
                <a:spcPts val="0"/>
              </a:spcAft>
              <a:buClr>
                <a:schemeClr val="dk1"/>
              </a:buClr>
              <a:buSzPct val="147368"/>
              <a:buChar char="○"/>
            </a:pPr>
            <a:r>
              <a:rPr lang="en-US"/>
              <a:t>Dask / Polars (optional): distributed processing for 13M+ rows</a:t>
            </a:r>
            <a:endParaRPr/>
          </a:p>
          <a:p>
            <a:pPr indent="-201930" lvl="0" marL="228600" rtl="0" algn="l">
              <a:lnSpc>
                <a:spcPct val="90000"/>
              </a:lnSpc>
              <a:spcBef>
                <a:spcPts val="0"/>
              </a:spcBef>
              <a:spcAft>
                <a:spcPts val="0"/>
              </a:spcAft>
              <a:buClr>
                <a:schemeClr val="dk1"/>
              </a:buClr>
              <a:buSzPct val="116666"/>
              <a:buChar char="●"/>
            </a:pPr>
            <a:r>
              <a:rPr b="1" i="1" lang="en-US"/>
              <a:t>Statistical Analysis &amp; Correlation Modeling</a:t>
            </a:r>
            <a:endParaRPr b="1" i="1"/>
          </a:p>
          <a:p>
            <a:pPr indent="-265430" lvl="1" marL="685800" rtl="0" algn="l">
              <a:lnSpc>
                <a:spcPct val="90000"/>
              </a:lnSpc>
              <a:spcBef>
                <a:spcPts val="0"/>
              </a:spcBef>
              <a:spcAft>
                <a:spcPts val="0"/>
              </a:spcAft>
              <a:buClr>
                <a:schemeClr val="dk1"/>
              </a:buClr>
              <a:buSzPct val="147368"/>
              <a:buChar char="○"/>
            </a:pPr>
            <a:r>
              <a:rPr lang="en-US"/>
              <a:t>NumPy / SciPy: covariance + correlation matrices, distance metrics</a:t>
            </a:r>
            <a:endParaRPr/>
          </a:p>
          <a:p>
            <a:pPr indent="-265430" lvl="1" marL="685800" rtl="0" algn="l">
              <a:lnSpc>
                <a:spcPct val="90000"/>
              </a:lnSpc>
              <a:spcBef>
                <a:spcPts val="0"/>
              </a:spcBef>
              <a:spcAft>
                <a:spcPts val="0"/>
              </a:spcAft>
              <a:buClr>
                <a:schemeClr val="dk1"/>
              </a:buClr>
              <a:buSzPct val="147368"/>
              <a:buChar char="○"/>
            </a:pPr>
            <a:r>
              <a:rPr lang="en-US"/>
              <a:t>Pandas: time-series alignment, log-return computation</a:t>
            </a:r>
            <a:endParaRPr/>
          </a:p>
          <a:p>
            <a:pPr indent="-265430" lvl="1" marL="685800" rtl="0" algn="l">
              <a:lnSpc>
                <a:spcPct val="90000"/>
              </a:lnSpc>
              <a:spcBef>
                <a:spcPts val="0"/>
              </a:spcBef>
              <a:spcAft>
                <a:spcPts val="0"/>
              </a:spcAft>
              <a:buClr>
                <a:schemeClr val="dk1"/>
              </a:buClr>
              <a:buSzPct val="147368"/>
              <a:buChar char="○"/>
            </a:pPr>
            <a:r>
              <a:rPr lang="en-US"/>
              <a:t>PyPortfolioOpt: baseline portfolio optimizers (MinVar, Max Sharpe)</a:t>
            </a:r>
            <a:endParaRPr/>
          </a:p>
          <a:p>
            <a:pPr indent="-201930" lvl="0" marL="228600" rtl="0" algn="l">
              <a:lnSpc>
                <a:spcPct val="90000"/>
              </a:lnSpc>
              <a:spcBef>
                <a:spcPts val="0"/>
              </a:spcBef>
              <a:spcAft>
                <a:spcPts val="0"/>
              </a:spcAft>
              <a:buClr>
                <a:schemeClr val="dk1"/>
              </a:buClr>
              <a:buSzPct val="116666"/>
              <a:buChar char="●"/>
            </a:pPr>
            <a:r>
              <a:rPr b="1" i="1" lang="en-US"/>
              <a:t>Hierarchical Clustering &amp; Portfolio Optimization</a:t>
            </a:r>
            <a:endParaRPr b="1" i="1"/>
          </a:p>
          <a:p>
            <a:pPr indent="-265430" lvl="1" marL="685800" rtl="0" algn="l">
              <a:lnSpc>
                <a:spcPct val="90000"/>
              </a:lnSpc>
              <a:spcBef>
                <a:spcPts val="0"/>
              </a:spcBef>
              <a:spcAft>
                <a:spcPts val="0"/>
              </a:spcAft>
              <a:buClr>
                <a:schemeClr val="dk1"/>
              </a:buClr>
              <a:buSzPct val="147368"/>
              <a:buChar char="○"/>
            </a:pPr>
            <a:r>
              <a:rPr lang="en-US"/>
              <a:t>scikit-learn: Agglomerative Hierarchical Clustering (Ward’s linkage)</a:t>
            </a:r>
            <a:endParaRPr/>
          </a:p>
          <a:p>
            <a:pPr indent="-265430" lvl="1" marL="685800" rtl="0" algn="l">
              <a:lnSpc>
                <a:spcPct val="90000"/>
              </a:lnSpc>
              <a:spcBef>
                <a:spcPts val="0"/>
              </a:spcBef>
              <a:spcAft>
                <a:spcPts val="0"/>
              </a:spcAft>
              <a:buClr>
                <a:schemeClr val="dk1"/>
              </a:buClr>
              <a:buSzPct val="147368"/>
              <a:buChar char="○"/>
            </a:pPr>
            <a:r>
              <a:rPr lang="en-US"/>
              <a:t>SciPy: dendrogram visualization + cluster extraction</a:t>
            </a:r>
            <a:endParaRPr/>
          </a:p>
          <a:p>
            <a:pPr indent="-265430" lvl="1" marL="685800" rtl="0" algn="l">
              <a:lnSpc>
                <a:spcPct val="90000"/>
              </a:lnSpc>
              <a:spcBef>
                <a:spcPts val="0"/>
              </a:spcBef>
              <a:spcAft>
                <a:spcPts val="0"/>
              </a:spcAft>
              <a:buClr>
                <a:schemeClr val="dk1"/>
              </a:buClr>
              <a:buSzPct val="147368"/>
              <a:buChar char="○"/>
            </a:pPr>
            <a:r>
              <a:rPr lang="en-US"/>
              <a:t>mlfinlab (optional but ideal): Hierarchical Risk Parity (HRP) implementation</a:t>
            </a:r>
            <a:endParaRPr/>
          </a:p>
          <a:p>
            <a:pPr indent="-201930" lvl="0" marL="228600" rtl="0" algn="l">
              <a:lnSpc>
                <a:spcPct val="90000"/>
              </a:lnSpc>
              <a:spcBef>
                <a:spcPts val="0"/>
              </a:spcBef>
              <a:spcAft>
                <a:spcPts val="0"/>
              </a:spcAft>
              <a:buClr>
                <a:schemeClr val="dk1"/>
              </a:buClr>
              <a:buSzPct val="116666"/>
              <a:buChar char="●"/>
            </a:pPr>
            <a:r>
              <a:rPr b="1" i="1" lang="en-US"/>
              <a:t>Visualization &amp; Reporting</a:t>
            </a:r>
            <a:endParaRPr b="1" i="1"/>
          </a:p>
          <a:p>
            <a:pPr indent="-265430" lvl="1" marL="685800" rtl="0" algn="l">
              <a:lnSpc>
                <a:spcPct val="90000"/>
              </a:lnSpc>
              <a:spcBef>
                <a:spcPts val="0"/>
              </a:spcBef>
              <a:spcAft>
                <a:spcPts val="0"/>
              </a:spcAft>
              <a:buClr>
                <a:schemeClr val="dk1"/>
              </a:buClr>
              <a:buSzPct val="147368"/>
              <a:buChar char="○"/>
            </a:pPr>
            <a:r>
              <a:rPr lang="en-US"/>
              <a:t>Matplotlib / Seaborn: heatmaps, dendrograms, performance charts</a:t>
            </a:r>
            <a:endParaRPr/>
          </a:p>
          <a:p>
            <a:pPr indent="-265430" lvl="1" marL="685800" rtl="0" algn="l">
              <a:lnSpc>
                <a:spcPct val="90000"/>
              </a:lnSpc>
              <a:spcBef>
                <a:spcPts val="0"/>
              </a:spcBef>
              <a:spcAft>
                <a:spcPts val="0"/>
              </a:spcAft>
              <a:buClr>
                <a:schemeClr val="dk1"/>
              </a:buClr>
              <a:buSzPct val="147368"/>
              <a:buChar char="○"/>
            </a:pPr>
            <a:r>
              <a:rPr lang="en-US"/>
              <a:t>Plotly: interactive correlation and cluster visualizations</a:t>
            </a:r>
            <a:endParaRPr/>
          </a:p>
          <a:p>
            <a:pPr indent="-265430" lvl="1" marL="685800" rtl="0" algn="l">
              <a:lnSpc>
                <a:spcPct val="90000"/>
              </a:lnSpc>
              <a:spcBef>
                <a:spcPts val="0"/>
              </a:spcBef>
              <a:spcAft>
                <a:spcPts val="0"/>
              </a:spcAft>
              <a:buClr>
                <a:schemeClr val="dk1"/>
              </a:buClr>
              <a:buSzPct val="147368"/>
              <a:buChar char="○"/>
            </a:pPr>
            <a:r>
              <a:rPr lang="en-US"/>
              <a:t>Jupyter Notebook / Google Colab: documentation &amp; iterative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Gantt Chart</a:t>
            </a:r>
            <a:endParaRPr b="1"/>
          </a:p>
        </p:txBody>
      </p:sp>
      <p:graphicFrame>
        <p:nvGraphicFramePr>
          <p:cNvPr id="111" name="Google Shape;111;p9"/>
          <p:cNvGraphicFramePr/>
          <p:nvPr/>
        </p:nvGraphicFramePr>
        <p:xfrm>
          <a:off x="3469163" y="1493250"/>
          <a:ext cx="3000000" cy="3000000"/>
        </p:xfrm>
        <a:graphic>
          <a:graphicData uri="http://schemas.openxmlformats.org/drawingml/2006/table">
            <a:tbl>
              <a:tblPr>
                <a:noFill/>
                <a:tableStyleId>{1DCC4FAE-66E8-42F5-8EDA-F91CB2B5EFE6}</a:tableStyleId>
              </a:tblPr>
              <a:tblGrid>
                <a:gridCol w="1261200"/>
                <a:gridCol w="2092300"/>
                <a:gridCol w="647000"/>
                <a:gridCol w="537325"/>
                <a:gridCol w="537350"/>
                <a:gridCol w="617100"/>
              </a:tblGrid>
              <a:tr h="451025">
                <a:tc>
                  <a:txBody>
                    <a:bodyPr/>
                    <a:lstStyle/>
                    <a:p>
                      <a:pPr indent="0" lvl="0" marL="0" rtl="0" algn="ctr">
                        <a:lnSpc>
                          <a:spcPct val="115000"/>
                        </a:lnSpc>
                        <a:spcBef>
                          <a:spcPts val="0"/>
                        </a:spcBef>
                        <a:spcAft>
                          <a:spcPts val="0"/>
                        </a:spcAft>
                        <a:buNone/>
                      </a:pPr>
                      <a:r>
                        <a:rPr b="1" lang="en-US" sz="1100"/>
                        <a:t>Phase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US" sz="1100"/>
                        <a:t>Task</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US" sz="800"/>
                        <a:t>Week 1</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US" sz="800"/>
                        <a:t>Week 2</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US" sz="800"/>
                        <a:t>Week 3</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US" sz="800"/>
                        <a:t>Week 4</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542450">
                <a:tc>
                  <a:txBody>
                    <a:bodyPr/>
                    <a:lstStyle/>
                    <a:p>
                      <a:pPr indent="0" lvl="0" marL="0" rtl="0" algn="l">
                        <a:spcBef>
                          <a:spcPts val="0"/>
                        </a:spcBef>
                        <a:spcAft>
                          <a:spcPts val="0"/>
                        </a:spcAft>
                        <a:buNone/>
                      </a:pPr>
                      <a:r>
                        <a:rPr b="1" lang="en-US" sz="1100"/>
                        <a:t>Data Preparation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Acquire &amp; clean raw price data</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245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Align dates &amp; handle missing data</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2450">
                <a:tc>
                  <a:txBody>
                    <a:bodyPr/>
                    <a:lstStyle/>
                    <a:p>
                      <a:pPr indent="0" lvl="0" marL="0" rtl="0" algn="l">
                        <a:spcBef>
                          <a:spcPts val="0"/>
                        </a:spcBef>
                        <a:spcAft>
                          <a:spcPts val="0"/>
                        </a:spcAft>
                        <a:buNone/>
                      </a:pPr>
                      <a:r>
                        <a:rPr b="1" lang="en-US" sz="1100"/>
                        <a:t>Feature Engineering</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Compute log returns</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a:solidFill>
                            <a:schemeClr val="dk1"/>
                          </a:solidFill>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245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Compute correlation &amp; covariance matrices</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2450">
                <a:tc>
                  <a:txBody>
                    <a:bodyPr/>
                    <a:lstStyle/>
                    <a:p>
                      <a:pPr indent="0" lvl="0" marL="0" rtl="0" algn="l">
                        <a:spcBef>
                          <a:spcPts val="0"/>
                        </a:spcBef>
                        <a:spcAft>
                          <a:spcPts val="0"/>
                        </a:spcAft>
                        <a:buNone/>
                      </a:pPr>
                      <a:r>
                        <a:rPr b="1" lang="en-US" sz="1100"/>
                        <a:t>Clustering</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Apply hierarchical clustering (Ward)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a:solidFill>
                            <a:schemeClr val="dk1"/>
                          </a:solidFill>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2450">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Dendrogram interpretation / cluster selection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a:solidFill>
                            <a:schemeClr val="dk1"/>
                          </a:solidFill>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2450">
                <a:tc>
                  <a:txBody>
                    <a:bodyPr/>
                    <a:lstStyle/>
                    <a:p>
                      <a:pPr indent="0" lvl="0" marL="0" rtl="0" algn="l">
                        <a:spcBef>
                          <a:spcPts val="0"/>
                        </a:spcBef>
                        <a:spcAft>
                          <a:spcPts val="0"/>
                        </a:spcAft>
                        <a:buNone/>
                      </a:pPr>
                      <a:r>
                        <a:rPr b="1" lang="en-US" sz="1100"/>
                        <a:t>Portfolio Optimization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Implement HRP &amp; baseline portfolios</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a:solidFill>
                            <a:schemeClr val="dk1"/>
                          </a:solidFill>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2450">
                <a:tc>
                  <a:txBody>
                    <a:bodyPr/>
                    <a:lstStyle/>
                    <a:p>
                      <a:pPr indent="0" lvl="0" marL="0" rtl="0" algn="l">
                        <a:spcBef>
                          <a:spcPts val="0"/>
                        </a:spcBef>
                        <a:spcAft>
                          <a:spcPts val="0"/>
                        </a:spcAft>
                        <a:buNone/>
                      </a:pPr>
                      <a:r>
                        <a:rPr b="1" lang="en-US" sz="1100"/>
                        <a:t>Evaluation</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Risk contribution &amp; performance metrics</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a:solidFill>
                            <a:schemeClr val="dk1"/>
                          </a:solidFill>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2450">
                <a:tc>
                  <a:txBody>
                    <a:bodyPr/>
                    <a:lstStyle/>
                    <a:p>
                      <a:pPr indent="0" lvl="0" marL="0" rtl="0" algn="l">
                        <a:spcBef>
                          <a:spcPts val="0"/>
                        </a:spcBef>
                        <a:spcAft>
                          <a:spcPts val="0"/>
                        </a:spcAft>
                        <a:buNone/>
                      </a:pPr>
                      <a:r>
                        <a:rPr b="1" lang="en-US" sz="1100"/>
                        <a:t>Final Output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200"/>
                        <a:t>Visualization, slides, write-up</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a:solidFill>
                            <a:schemeClr val="dk1"/>
                          </a:solidFill>
                        </a:rPr>
                        <a: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Visualizations</a:t>
            </a:r>
            <a:endParaRPr b="1"/>
          </a:p>
        </p:txBody>
      </p:sp>
      <p:sp>
        <p:nvSpPr>
          <p:cNvPr id="117" name="Google Shape;117;p10"/>
          <p:cNvSpPr txBox="1"/>
          <p:nvPr/>
        </p:nvSpPr>
        <p:spPr>
          <a:xfrm>
            <a:off x="8999621" y="6492875"/>
            <a:ext cx="3273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Calibri"/>
                <a:ea typeface="Calibri"/>
                <a:cs typeface="Calibri"/>
                <a:sym typeface="Calibri"/>
              </a:rPr>
              <a:t>Graph City for ogbn-papers100M</a:t>
            </a:r>
            <a:endParaRPr/>
          </a:p>
        </p:txBody>
      </p:sp>
      <p:sp>
        <p:nvSpPr>
          <p:cNvPr id="118" name="Google Shape;118;p10"/>
          <p:cNvSpPr txBox="1"/>
          <p:nvPr/>
        </p:nvSpPr>
        <p:spPr>
          <a:xfrm>
            <a:off x="985350" y="1445175"/>
            <a:ext cx="111180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Since our dataset is so large this graph just represent Apple’s stock over the past 4 years, but it shows the information we can gain from this dataset.</a:t>
            </a:r>
            <a:endParaRPr>
              <a:solidFill>
                <a:schemeClr val="dk1"/>
              </a:solidFill>
              <a:latin typeface="Calibri"/>
              <a:ea typeface="Calibri"/>
              <a:cs typeface="Calibri"/>
              <a:sym typeface="Calibri"/>
            </a:endParaRPr>
          </a:p>
        </p:txBody>
      </p:sp>
      <p:pic>
        <p:nvPicPr>
          <p:cNvPr id="119" name="Google Shape;119;p10" title="Figure_1.png"/>
          <p:cNvPicPr preferRelativeResize="0"/>
          <p:nvPr/>
        </p:nvPicPr>
        <p:blipFill>
          <a:blip r:embed="rId3">
            <a:alphaModFix/>
          </a:blip>
          <a:stretch>
            <a:fillRect/>
          </a:stretch>
        </p:blipFill>
        <p:spPr>
          <a:xfrm>
            <a:off x="1847063" y="1905075"/>
            <a:ext cx="8497869" cy="49571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2"/>
          <p:cNvSpPr/>
          <p:nvPr/>
        </p:nvSpPr>
        <p:spPr>
          <a:xfrm>
            <a:off x="432636" y="3729789"/>
            <a:ext cx="9149514" cy="28956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 name="Google Shape;125;p12"/>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DashBoard</a:t>
            </a:r>
            <a:endParaRPr b="1"/>
          </a:p>
        </p:txBody>
      </p:sp>
      <p:sp>
        <p:nvSpPr>
          <p:cNvPr id="126" name="Google Shape;126;p12"/>
          <p:cNvSpPr/>
          <p:nvPr/>
        </p:nvSpPr>
        <p:spPr>
          <a:xfrm>
            <a:off x="248653" y="1548063"/>
            <a:ext cx="11726779" cy="5189621"/>
          </a:xfrm>
          <a:prstGeom prst="rect">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12"/>
          <p:cNvSpPr/>
          <p:nvPr/>
        </p:nvSpPr>
        <p:spPr>
          <a:xfrm>
            <a:off x="9829800" y="1690688"/>
            <a:ext cx="1993232" cy="178036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 name="Google Shape;128;p12"/>
          <p:cNvSpPr txBox="1"/>
          <p:nvPr/>
        </p:nvSpPr>
        <p:spPr>
          <a:xfrm>
            <a:off x="9829800" y="1690700"/>
            <a:ext cx="1993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Cluster Summary</a:t>
            </a:r>
            <a:endParaRPr sz="1800">
              <a:solidFill>
                <a:schemeClr val="dk1"/>
              </a:solidFill>
              <a:latin typeface="Calibri"/>
              <a:ea typeface="Calibri"/>
              <a:cs typeface="Calibri"/>
              <a:sym typeface="Calibri"/>
            </a:endParaRPr>
          </a:p>
        </p:txBody>
      </p:sp>
      <p:sp>
        <p:nvSpPr>
          <p:cNvPr id="129" name="Google Shape;129;p12"/>
          <p:cNvSpPr txBox="1"/>
          <p:nvPr/>
        </p:nvSpPr>
        <p:spPr>
          <a:xfrm>
            <a:off x="432617" y="1601650"/>
            <a:ext cx="728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Hierarchical clustering dendrogram / Cumulative Growth</a:t>
            </a:r>
            <a:endParaRPr sz="1800">
              <a:solidFill>
                <a:schemeClr val="dk1"/>
              </a:solidFill>
              <a:latin typeface="Calibri"/>
              <a:ea typeface="Calibri"/>
              <a:cs typeface="Calibri"/>
              <a:sym typeface="Calibri"/>
            </a:endParaRPr>
          </a:p>
        </p:txBody>
      </p:sp>
      <p:sp>
        <p:nvSpPr>
          <p:cNvPr id="130" name="Google Shape;130;p12"/>
          <p:cNvSpPr txBox="1"/>
          <p:nvPr/>
        </p:nvSpPr>
        <p:spPr>
          <a:xfrm>
            <a:off x="432636" y="3709310"/>
            <a:ext cx="78987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Correlation &amp; Clustering / Portfolio Performance &amp; Weights</a:t>
            </a:r>
            <a:endParaRPr/>
          </a:p>
        </p:txBody>
      </p:sp>
      <p:sp>
        <p:nvSpPr>
          <p:cNvPr id="131" name="Google Shape;131;p12"/>
          <p:cNvSpPr/>
          <p:nvPr/>
        </p:nvSpPr>
        <p:spPr>
          <a:xfrm>
            <a:off x="529389" y="4236894"/>
            <a:ext cx="8767011" cy="417095"/>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12"/>
          <p:cNvSpPr txBox="1"/>
          <p:nvPr/>
        </p:nvSpPr>
        <p:spPr>
          <a:xfrm>
            <a:off x="598127" y="4254525"/>
            <a:ext cx="8698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Mapping Market Structure: 20-Year Correlations, Clusters &amp; Risk Parity</a:t>
            </a:r>
            <a:endParaRPr/>
          </a:p>
        </p:txBody>
      </p:sp>
      <p:sp>
        <p:nvSpPr>
          <p:cNvPr id="133" name="Google Shape;133;p12"/>
          <p:cNvSpPr/>
          <p:nvPr/>
        </p:nvSpPr>
        <p:spPr>
          <a:xfrm>
            <a:off x="529389" y="4812241"/>
            <a:ext cx="8767011" cy="1680634"/>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12"/>
          <p:cNvSpPr txBox="1"/>
          <p:nvPr/>
        </p:nvSpPr>
        <p:spPr>
          <a:xfrm>
            <a:off x="598116" y="4829853"/>
            <a:ext cx="8698200" cy="149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rPr>
              <a:t>This dashboard maps the market structure of S&amp;P-style assets using 20 years of daily prices from </a:t>
            </a:r>
            <a:r>
              <a:rPr lang="en-US" sz="1300">
                <a:solidFill>
                  <a:srgbClr val="188038"/>
                </a:solidFill>
                <a:latin typeface="Roboto Mono"/>
                <a:ea typeface="Roboto Mono"/>
                <a:cs typeface="Roboto Mono"/>
                <a:sym typeface="Roboto Mono"/>
              </a:rPr>
              <a:t>history.csv</a:t>
            </a:r>
            <a:r>
              <a:rPr lang="en-US" sz="1300">
                <a:solidFill>
                  <a:schemeClr val="dk1"/>
                </a:solidFill>
              </a:rPr>
              <a:t>. We estimate a Ledoit–Wolf shrinkage correlation matrix, cluster assets with Ward hierarchical clustering, and translate that structure into portfolio weights via Hierarchical Risk Parity (HRP). The dendrogram and correlation heatmap show how tickers group into macro clusters. The performance panel compares HRP to Equal-Weight (EW) and Global Minimum-Variance (GMV) portfolios, while the weights and membership-strength views highlight which assets sit in the stable core of each cluster versus the noisy edges. The goal is to turn similarity patterns into diversified, risk-balanced allocations.</a:t>
            </a:r>
            <a:endParaRPr sz="1600"/>
          </a:p>
        </p:txBody>
      </p:sp>
      <p:sp>
        <p:nvSpPr>
          <p:cNvPr id="135" name="Google Shape;135;p12"/>
          <p:cNvSpPr/>
          <p:nvPr/>
        </p:nvSpPr>
        <p:spPr>
          <a:xfrm>
            <a:off x="9829800" y="3709310"/>
            <a:ext cx="1993232" cy="28956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12"/>
          <p:cNvSpPr txBox="1"/>
          <p:nvPr/>
        </p:nvSpPr>
        <p:spPr>
          <a:xfrm>
            <a:off x="9829801" y="3773541"/>
            <a:ext cx="19296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Asset Ticker List in selected cluster </a:t>
            </a:r>
            <a:r>
              <a:rPr lang="en-US" sz="1800">
                <a:solidFill>
                  <a:schemeClr val="dk1"/>
                </a:solidFill>
                <a:latin typeface="Calibri"/>
                <a:ea typeface="Calibri"/>
                <a:cs typeface="Calibri"/>
                <a:sym typeface="Calibri"/>
              </a:rPr>
              <a:t>with Selected Labels</a:t>
            </a:r>
            <a:endParaRPr sz="1800">
              <a:solidFill>
                <a:schemeClr val="dk1"/>
              </a:solidFill>
              <a:latin typeface="Calibri"/>
              <a:ea typeface="Calibri"/>
              <a:cs typeface="Calibri"/>
              <a:sym typeface="Calibri"/>
            </a:endParaRPr>
          </a:p>
        </p:txBody>
      </p:sp>
      <p:sp>
        <p:nvSpPr>
          <p:cNvPr id="137" name="Google Shape;137;p12"/>
          <p:cNvSpPr/>
          <p:nvPr/>
        </p:nvSpPr>
        <p:spPr>
          <a:xfrm>
            <a:off x="9970169" y="2133600"/>
            <a:ext cx="1708734" cy="123524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12"/>
          <p:cNvSpPr txBox="1"/>
          <p:nvPr/>
        </p:nvSpPr>
        <p:spPr>
          <a:xfrm>
            <a:off x="9970125" y="2229850"/>
            <a:ext cx="1708800" cy="1108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n-US" sz="1100">
                <a:solidFill>
                  <a:schemeClr val="dk1"/>
                </a:solidFill>
              </a:rPr>
              <a:t>Cluster Composition Chart (macro-cluster weights)</a:t>
            </a:r>
            <a:endParaRPr b="1" sz="1100">
              <a:solidFill>
                <a:schemeClr val="dk1"/>
              </a:solidFill>
            </a:endParaRPr>
          </a:p>
          <a:p>
            <a:pPr indent="0" lvl="0" marL="0" marR="0" rtl="0" algn="l">
              <a:spcBef>
                <a:spcPts val="0"/>
              </a:spcBef>
              <a:spcAft>
                <a:spcPts val="0"/>
              </a:spcAft>
              <a:buNone/>
            </a:pPr>
            <a:r>
              <a:rPr lang="en-US" sz="1100">
                <a:solidFill>
                  <a:schemeClr val="dk1"/>
                </a:solidFill>
              </a:rPr>
              <a:t>HRP, EW, and GMV weight share by macro cluster (k = 3).</a:t>
            </a:r>
            <a:endParaRPr/>
          </a:p>
        </p:txBody>
      </p:sp>
      <p:pic>
        <p:nvPicPr>
          <p:cNvPr id="139" name="Google Shape;139;p12"/>
          <p:cNvPicPr preferRelativeResize="0"/>
          <p:nvPr/>
        </p:nvPicPr>
        <p:blipFill>
          <a:blip r:embed="rId3">
            <a:alphaModFix/>
          </a:blip>
          <a:stretch>
            <a:fillRect/>
          </a:stretch>
        </p:blipFill>
        <p:spPr>
          <a:xfrm>
            <a:off x="415591" y="1915525"/>
            <a:ext cx="4920607" cy="1780351"/>
          </a:xfrm>
          <a:prstGeom prst="rect">
            <a:avLst/>
          </a:prstGeom>
          <a:noFill/>
          <a:ln cap="flat" cmpd="sng" w="38100">
            <a:solidFill>
              <a:schemeClr val="dk1"/>
            </a:solidFill>
            <a:prstDash val="solid"/>
            <a:miter lim="8000"/>
            <a:headEnd len="sm" w="sm" type="none"/>
            <a:tailEnd len="sm" w="sm" type="none"/>
          </a:ln>
        </p:spPr>
      </p:pic>
      <p:pic>
        <p:nvPicPr>
          <p:cNvPr id="140" name="Google Shape;140;p12"/>
          <p:cNvPicPr preferRelativeResize="0"/>
          <p:nvPr/>
        </p:nvPicPr>
        <p:blipFill>
          <a:blip r:embed="rId4">
            <a:alphaModFix/>
          </a:blip>
          <a:stretch>
            <a:fillRect/>
          </a:stretch>
        </p:blipFill>
        <p:spPr>
          <a:xfrm>
            <a:off x="5442658" y="1999812"/>
            <a:ext cx="4280693" cy="1680624"/>
          </a:xfrm>
          <a:prstGeom prst="rect">
            <a:avLst/>
          </a:prstGeom>
          <a:noFill/>
          <a:ln cap="flat" cmpd="sng" w="38100">
            <a:solidFill>
              <a:schemeClr val="dk1"/>
            </a:solidFill>
            <a:prstDash val="solid"/>
            <a:miter lim="8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Evaluation Techniques </a:t>
            </a:r>
            <a:endParaRPr b="1"/>
          </a:p>
        </p:txBody>
      </p:sp>
      <p:sp>
        <p:nvSpPr>
          <p:cNvPr id="146" name="Google Shape;146;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b="1" i="1" lang="en-US"/>
              <a:t>Walk-Forward Backtesting</a:t>
            </a:r>
            <a:endParaRPr b="1" i="1"/>
          </a:p>
          <a:p>
            <a:pPr indent="-292100" lvl="1" marL="685800" rtl="0" algn="l">
              <a:lnSpc>
                <a:spcPct val="90000"/>
              </a:lnSpc>
              <a:spcBef>
                <a:spcPts val="0"/>
              </a:spcBef>
              <a:spcAft>
                <a:spcPts val="0"/>
              </a:spcAft>
              <a:buClr>
                <a:schemeClr val="dk1"/>
              </a:buClr>
              <a:buSzPts val="2800"/>
              <a:buChar char="○"/>
            </a:pPr>
            <a:r>
              <a:rPr lang="en-US"/>
              <a:t>Train clusters on past data and evaluate on future periods (out-of-sample).</a:t>
            </a:r>
            <a:endParaRPr/>
          </a:p>
          <a:p>
            <a:pPr indent="0" lvl="0" marL="0" rtl="0" algn="l">
              <a:lnSpc>
                <a:spcPct val="90000"/>
              </a:lnSpc>
              <a:spcBef>
                <a:spcPts val="0"/>
              </a:spcBef>
              <a:spcAft>
                <a:spcPts val="0"/>
              </a:spcAft>
              <a:buNone/>
            </a:pPr>
            <a:r>
              <a:t/>
            </a:r>
            <a:endParaRPr/>
          </a:p>
          <a:p>
            <a:pPr indent="-228600" lvl="0" marL="228600" rtl="0" algn="l">
              <a:lnSpc>
                <a:spcPct val="90000"/>
              </a:lnSpc>
              <a:spcBef>
                <a:spcPts val="0"/>
              </a:spcBef>
              <a:spcAft>
                <a:spcPts val="0"/>
              </a:spcAft>
              <a:buClr>
                <a:schemeClr val="dk1"/>
              </a:buClr>
              <a:buSzPts val="2800"/>
              <a:buChar char="●"/>
            </a:pPr>
            <a:r>
              <a:rPr b="1" i="1" lang="en-US"/>
              <a:t>Benchmark Comparison</a:t>
            </a:r>
            <a:endParaRPr b="1" i="1"/>
          </a:p>
          <a:p>
            <a:pPr indent="-292100" lvl="1" marL="685800" rtl="0" algn="l">
              <a:lnSpc>
                <a:spcPct val="90000"/>
              </a:lnSpc>
              <a:spcBef>
                <a:spcPts val="0"/>
              </a:spcBef>
              <a:spcAft>
                <a:spcPts val="0"/>
              </a:spcAft>
              <a:buClr>
                <a:schemeClr val="dk1"/>
              </a:buClr>
              <a:buSzPts val="2800"/>
              <a:buChar char="○"/>
            </a:pPr>
            <a:r>
              <a:rPr lang="en-US"/>
              <a:t>C</a:t>
            </a:r>
            <a:r>
              <a:rPr lang="en-US"/>
              <a:t>ompare HRP portfolio vs. Equal-Weight and Minimum-Variance portfolios.</a:t>
            </a:r>
            <a:endParaRPr/>
          </a:p>
          <a:p>
            <a:pPr indent="0" lvl="0" marL="0" rtl="0" algn="l">
              <a:lnSpc>
                <a:spcPct val="90000"/>
              </a:lnSpc>
              <a:spcBef>
                <a:spcPts val="0"/>
              </a:spcBef>
              <a:spcAft>
                <a:spcPts val="0"/>
              </a:spcAft>
              <a:buNone/>
            </a:pPr>
            <a:r>
              <a:t/>
            </a:r>
            <a:endParaRPr/>
          </a:p>
          <a:p>
            <a:pPr indent="-228600" lvl="0" marL="228600" rtl="0" algn="l">
              <a:lnSpc>
                <a:spcPct val="90000"/>
              </a:lnSpc>
              <a:spcBef>
                <a:spcPts val="0"/>
              </a:spcBef>
              <a:spcAft>
                <a:spcPts val="0"/>
              </a:spcAft>
              <a:buClr>
                <a:schemeClr val="dk1"/>
              </a:buClr>
              <a:buSzPts val="2800"/>
              <a:buChar char="●"/>
            </a:pPr>
            <a:r>
              <a:rPr b="1" i="1" lang="en-US"/>
              <a:t>Risk &amp; Performance Metrics</a:t>
            </a:r>
            <a:endParaRPr b="1" i="1"/>
          </a:p>
          <a:p>
            <a:pPr indent="-292100" lvl="1" marL="685800" rtl="0" algn="l">
              <a:lnSpc>
                <a:spcPct val="90000"/>
              </a:lnSpc>
              <a:spcBef>
                <a:spcPts val="0"/>
              </a:spcBef>
              <a:spcAft>
                <a:spcPts val="0"/>
              </a:spcAft>
              <a:buClr>
                <a:schemeClr val="dk1"/>
              </a:buClr>
              <a:buSzPts val="2800"/>
              <a:buChar char="○"/>
            </a:pPr>
            <a:r>
              <a:rPr lang="en-US"/>
              <a:t>Annualized Return, Volatility, Sharpe Ratio, Max Drawdown.</a:t>
            </a:r>
            <a:endParaRPr/>
          </a:p>
          <a:p>
            <a:pPr indent="0" lvl="0" marL="0" rtl="0" algn="l">
              <a:lnSpc>
                <a:spcPct val="90000"/>
              </a:lnSpc>
              <a:spcBef>
                <a:spcPts val="0"/>
              </a:spcBef>
              <a:spcAft>
                <a:spcPts val="0"/>
              </a:spcAft>
              <a:buNone/>
            </a:pPr>
            <a:r>
              <a:t/>
            </a:r>
            <a:endParaRPr/>
          </a:p>
          <a:p>
            <a:pPr indent="-228600" lvl="0" marL="228600" rtl="0" algn="l">
              <a:lnSpc>
                <a:spcPct val="90000"/>
              </a:lnSpc>
              <a:spcBef>
                <a:spcPts val="0"/>
              </a:spcBef>
              <a:spcAft>
                <a:spcPts val="0"/>
              </a:spcAft>
              <a:buClr>
                <a:schemeClr val="dk1"/>
              </a:buClr>
              <a:buSzPts val="2800"/>
              <a:buChar char="●"/>
            </a:pPr>
            <a:r>
              <a:rPr b="1" i="1" lang="en-US"/>
              <a:t>Stability &amp; Robustness Checks</a:t>
            </a:r>
            <a:endParaRPr b="1" i="1"/>
          </a:p>
          <a:p>
            <a:pPr indent="-292100" lvl="1" marL="685800" rtl="0" algn="l">
              <a:lnSpc>
                <a:spcPct val="90000"/>
              </a:lnSpc>
              <a:spcBef>
                <a:spcPts val="0"/>
              </a:spcBef>
              <a:spcAft>
                <a:spcPts val="0"/>
              </a:spcAft>
              <a:buClr>
                <a:schemeClr val="dk1"/>
              </a:buClr>
              <a:buSzPts val="2800"/>
              <a:buChar char="○"/>
            </a:pPr>
            <a:r>
              <a:rPr lang="en-US"/>
              <a:t>Test different lookback windows and linkage methods to ensure consistent cluster structure and allocation behavior.</a:t>
            </a:r>
            <a:endParaRPr/>
          </a:p>
          <a:p>
            <a:pPr indent="-50800" lvl="0" marL="228600" rtl="0" algn="l">
              <a:lnSpc>
                <a:spcPct val="90000"/>
              </a:lnSpc>
              <a:spcBef>
                <a:spcPts val="1000"/>
              </a:spcBef>
              <a:spcAft>
                <a:spcPts val="160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adc6aada9f_0_0"/>
          <p:cNvSpPr txBox="1"/>
          <p:nvPr>
            <p:ph type="title"/>
          </p:nvPr>
        </p:nvSpPr>
        <p:spPr>
          <a:xfrm>
            <a:off x="955150" y="4999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Our Findings (1/6)</a:t>
            </a:r>
            <a:endParaRPr/>
          </a:p>
        </p:txBody>
      </p:sp>
      <p:pic>
        <p:nvPicPr>
          <p:cNvPr id="152" name="Google Shape;152;g3adc6aada9f_0_0"/>
          <p:cNvPicPr preferRelativeResize="0"/>
          <p:nvPr/>
        </p:nvPicPr>
        <p:blipFill>
          <a:blip r:embed="rId3">
            <a:alphaModFix/>
          </a:blip>
          <a:stretch>
            <a:fillRect/>
          </a:stretch>
        </p:blipFill>
        <p:spPr>
          <a:xfrm>
            <a:off x="6763575" y="1254175"/>
            <a:ext cx="2438825" cy="2798225"/>
          </a:xfrm>
          <a:prstGeom prst="rect">
            <a:avLst/>
          </a:prstGeom>
          <a:noFill/>
          <a:ln>
            <a:noFill/>
          </a:ln>
        </p:spPr>
      </p:pic>
      <p:sp>
        <p:nvSpPr>
          <p:cNvPr id="153" name="Google Shape;153;g3adc6aada9f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We took a Python Notebook approach to:</a:t>
            </a:r>
            <a:endParaRPr/>
          </a:p>
          <a:p>
            <a:pPr indent="-342900" lvl="0" marL="457200" rtl="0" algn="l">
              <a:spcBef>
                <a:spcPts val="1600"/>
              </a:spcBef>
              <a:spcAft>
                <a:spcPts val="0"/>
              </a:spcAft>
              <a:buSzPts val="1800"/>
              <a:buChar char="●"/>
            </a:pPr>
            <a:r>
              <a:rPr lang="en-US"/>
              <a:t>Load Price Data</a:t>
            </a:r>
            <a:endParaRPr/>
          </a:p>
          <a:p>
            <a:pPr indent="-342900" lvl="0" marL="457200" rtl="0" algn="l">
              <a:spcBef>
                <a:spcPts val="0"/>
              </a:spcBef>
              <a:spcAft>
                <a:spcPts val="0"/>
              </a:spcAft>
              <a:buSzPts val="1800"/>
              <a:buChar char="●"/>
            </a:pPr>
            <a:r>
              <a:rPr lang="en-US"/>
              <a:t>Compute Log Returns</a:t>
            </a:r>
            <a:endParaRPr/>
          </a:p>
          <a:p>
            <a:pPr indent="-342900" lvl="0" marL="457200" rtl="0" algn="l">
              <a:spcBef>
                <a:spcPts val="0"/>
              </a:spcBef>
              <a:spcAft>
                <a:spcPts val="0"/>
              </a:spcAft>
              <a:buSzPts val="1800"/>
              <a:buChar char="●"/>
            </a:pPr>
            <a:r>
              <a:rPr lang="en-US"/>
              <a:t>Build the Correlation Matrix</a:t>
            </a:r>
            <a:endParaRPr/>
          </a:p>
          <a:p>
            <a:pPr indent="-342900" lvl="0" marL="457200" rtl="0" algn="l">
              <a:spcBef>
                <a:spcPts val="0"/>
              </a:spcBef>
              <a:spcAft>
                <a:spcPts val="0"/>
              </a:spcAft>
              <a:buSzPts val="1800"/>
              <a:buChar char="●"/>
            </a:pPr>
            <a:r>
              <a:rPr lang="en-US"/>
              <a:t>Execute Hierarchical </a:t>
            </a:r>
            <a:r>
              <a:rPr lang="en-US"/>
              <a:t>Clustering</a:t>
            </a:r>
            <a:endParaRPr/>
          </a:p>
          <a:p>
            <a:pPr indent="-342900" lvl="0" marL="457200" rtl="0" algn="l">
              <a:spcBef>
                <a:spcPts val="0"/>
              </a:spcBef>
              <a:spcAft>
                <a:spcPts val="0"/>
              </a:spcAft>
              <a:buSzPts val="1800"/>
              <a:buChar char="●"/>
            </a:pPr>
            <a:r>
              <a:rPr lang="en-US"/>
              <a:t>Plot the resulting Dendrogram</a:t>
            </a:r>
            <a:endParaRPr/>
          </a:p>
          <a:p>
            <a:pPr indent="-342900" lvl="0" marL="457200" rtl="0" algn="l">
              <a:spcBef>
                <a:spcPts val="0"/>
              </a:spcBef>
              <a:spcAft>
                <a:spcPts val="0"/>
              </a:spcAft>
              <a:buSzPts val="1800"/>
              <a:buChar char="●"/>
            </a:pPr>
            <a:r>
              <a:rPr lang="en-US"/>
              <a:t>We then used these visuals to analyze, understand, and now present the resulting significance…</a:t>
            </a:r>
            <a:endParaRPr/>
          </a:p>
        </p:txBody>
      </p:sp>
      <p:pic>
        <p:nvPicPr>
          <p:cNvPr id="154" name="Google Shape;154;g3adc6aada9f_0_0"/>
          <p:cNvPicPr preferRelativeResize="0"/>
          <p:nvPr/>
        </p:nvPicPr>
        <p:blipFill>
          <a:blip r:embed="rId4">
            <a:alphaModFix/>
          </a:blip>
          <a:stretch>
            <a:fillRect/>
          </a:stretch>
        </p:blipFill>
        <p:spPr>
          <a:xfrm>
            <a:off x="6997051" y="260161"/>
            <a:ext cx="4356751" cy="1805224"/>
          </a:xfrm>
          <a:prstGeom prst="rect">
            <a:avLst/>
          </a:prstGeom>
          <a:noFill/>
          <a:ln>
            <a:noFill/>
          </a:ln>
        </p:spPr>
      </p:pic>
      <p:pic>
        <p:nvPicPr>
          <p:cNvPr id="155" name="Google Shape;155;g3adc6aada9f_0_0"/>
          <p:cNvPicPr preferRelativeResize="0"/>
          <p:nvPr/>
        </p:nvPicPr>
        <p:blipFill>
          <a:blip r:embed="rId5">
            <a:alphaModFix/>
          </a:blip>
          <a:stretch>
            <a:fillRect/>
          </a:stretch>
        </p:blipFill>
        <p:spPr>
          <a:xfrm>
            <a:off x="8791081" y="1445537"/>
            <a:ext cx="3137776" cy="26068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adc6aada9f_0_240"/>
          <p:cNvSpPr txBox="1"/>
          <p:nvPr>
            <p:ph type="title"/>
          </p:nvPr>
        </p:nvSpPr>
        <p:spPr>
          <a:xfrm>
            <a:off x="955150" y="4999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Our Findings (2/6)</a:t>
            </a:r>
            <a:endParaRPr/>
          </a:p>
        </p:txBody>
      </p:sp>
      <p:sp>
        <p:nvSpPr>
          <p:cNvPr id="161" name="Google Shape;161;g3adc6aada9f_0_240"/>
          <p:cNvSpPr txBox="1"/>
          <p:nvPr>
            <p:ph idx="1" type="body"/>
          </p:nvPr>
        </p:nvSpPr>
        <p:spPr>
          <a:xfrm>
            <a:off x="838200" y="1825625"/>
            <a:ext cx="6280800" cy="4351200"/>
          </a:xfrm>
          <a:prstGeom prst="rect">
            <a:avLst/>
          </a:prstGeom>
        </p:spPr>
        <p:txBody>
          <a:bodyPr anchorCtr="0" anchor="t" bIns="45700" lIns="91425" spcFirstLastPara="1" rIns="91425" wrap="square" tIns="45700">
            <a:noAutofit/>
          </a:bodyPr>
          <a:lstStyle/>
          <a:p>
            <a:pPr indent="-306387" lvl="0" marL="457200" rtl="0" algn="l">
              <a:lnSpc>
                <a:spcPct val="100000"/>
              </a:lnSpc>
              <a:spcBef>
                <a:spcPts val="0"/>
              </a:spcBef>
              <a:spcAft>
                <a:spcPts val="0"/>
              </a:spcAft>
              <a:buSzPts val="1225"/>
              <a:buChar char="●"/>
            </a:pPr>
            <a:r>
              <a:rPr lang="en-US" sz="1600"/>
              <a:t>The return and volatility statistics show a wide risk spectrum across the selected asset universe.</a:t>
            </a:r>
            <a:endParaRPr sz="1600"/>
          </a:p>
          <a:p>
            <a:pPr indent="0" lvl="0" marL="457200" rtl="0" algn="l">
              <a:lnSpc>
                <a:spcPct val="100000"/>
              </a:lnSpc>
              <a:spcBef>
                <a:spcPts val="0"/>
              </a:spcBef>
              <a:spcAft>
                <a:spcPts val="0"/>
              </a:spcAft>
              <a:buSzPts val="688"/>
              <a:buNone/>
            </a:pPr>
            <a:r>
              <a:t/>
            </a:r>
            <a:endParaRPr sz="1600"/>
          </a:p>
          <a:p>
            <a:pPr indent="-306387" lvl="0" marL="457200" rtl="0" algn="l">
              <a:lnSpc>
                <a:spcPct val="100000"/>
              </a:lnSpc>
              <a:spcBef>
                <a:spcPts val="0"/>
              </a:spcBef>
              <a:spcAft>
                <a:spcPts val="0"/>
              </a:spcAft>
              <a:buSzPts val="1225"/>
              <a:buChar char="●"/>
            </a:pPr>
            <a:r>
              <a:rPr lang="en-US" sz="1600"/>
              <a:t>Mega-cap tech names (AAPL, MSFT, NVDA) display higher mean returns but also substantially larger standard deviations.</a:t>
            </a:r>
            <a:endParaRPr sz="1600"/>
          </a:p>
          <a:p>
            <a:pPr indent="0" lvl="0" marL="457200" rtl="0" algn="l">
              <a:lnSpc>
                <a:spcPct val="100000"/>
              </a:lnSpc>
              <a:spcBef>
                <a:spcPts val="0"/>
              </a:spcBef>
              <a:spcAft>
                <a:spcPts val="0"/>
              </a:spcAft>
              <a:buSzPts val="688"/>
              <a:buNone/>
            </a:pPr>
            <a:r>
              <a:t/>
            </a:r>
            <a:endParaRPr sz="1600"/>
          </a:p>
          <a:p>
            <a:pPr indent="-306387" lvl="0" marL="457200" rtl="0" algn="l">
              <a:lnSpc>
                <a:spcPct val="100000"/>
              </a:lnSpc>
              <a:spcBef>
                <a:spcPts val="0"/>
              </a:spcBef>
              <a:spcAft>
                <a:spcPts val="0"/>
              </a:spcAft>
              <a:buSzPts val="1225"/>
              <a:buChar char="●"/>
            </a:pPr>
            <a:r>
              <a:rPr lang="en-US" sz="1600"/>
              <a:t>Defensive names (KO, XEL) exhibit lower returns and much tighter volatility ranges.</a:t>
            </a:r>
            <a:endParaRPr sz="1600"/>
          </a:p>
          <a:p>
            <a:pPr indent="0" lvl="0" marL="457200" rtl="0" algn="l">
              <a:lnSpc>
                <a:spcPct val="100000"/>
              </a:lnSpc>
              <a:spcBef>
                <a:spcPts val="0"/>
              </a:spcBef>
              <a:spcAft>
                <a:spcPts val="0"/>
              </a:spcAft>
              <a:buSzPts val="688"/>
              <a:buNone/>
            </a:pPr>
            <a:r>
              <a:t/>
            </a:r>
            <a:endParaRPr sz="1600"/>
          </a:p>
          <a:p>
            <a:pPr indent="-306387" lvl="0" marL="457200" rtl="0" algn="l">
              <a:lnSpc>
                <a:spcPct val="100000"/>
              </a:lnSpc>
              <a:spcBef>
                <a:spcPts val="0"/>
              </a:spcBef>
              <a:spcAft>
                <a:spcPts val="0"/>
              </a:spcAft>
              <a:buSzPts val="1225"/>
              <a:buChar char="●"/>
            </a:pPr>
            <a:r>
              <a:rPr lang="en-US" sz="1600"/>
              <a:t>This dispersion is important because HRP depends on heterogeneous volatilities to distinguish clusters and prevent overweighting high-volatility assets.</a:t>
            </a:r>
            <a:endParaRPr sz="1600"/>
          </a:p>
          <a:p>
            <a:pPr indent="0" lvl="0" marL="457200" rtl="0" algn="l">
              <a:lnSpc>
                <a:spcPct val="100000"/>
              </a:lnSpc>
              <a:spcBef>
                <a:spcPts val="0"/>
              </a:spcBef>
              <a:spcAft>
                <a:spcPts val="0"/>
              </a:spcAft>
              <a:buSzPts val="688"/>
              <a:buNone/>
            </a:pPr>
            <a:r>
              <a:t/>
            </a:r>
            <a:endParaRPr sz="1600"/>
          </a:p>
          <a:p>
            <a:pPr indent="-306387" lvl="0" marL="457200" rtl="0" algn="l">
              <a:lnSpc>
                <a:spcPct val="100000"/>
              </a:lnSpc>
              <a:spcBef>
                <a:spcPts val="0"/>
              </a:spcBef>
              <a:spcAft>
                <a:spcPts val="0"/>
              </a:spcAft>
              <a:buSzPts val="1225"/>
              <a:buChar char="●"/>
            </a:pPr>
            <a:r>
              <a:rPr lang="en-US" sz="1600"/>
              <a:t>The relatively low skewness and kurtosis values indicate that log-normal assumptions used in later backtests are reasonable for this dataset.</a:t>
            </a:r>
            <a:endParaRPr sz="1600"/>
          </a:p>
        </p:txBody>
      </p:sp>
      <p:pic>
        <p:nvPicPr>
          <p:cNvPr id="162" name="Google Shape;162;g3adc6aada9f_0_240"/>
          <p:cNvPicPr preferRelativeResize="0"/>
          <p:nvPr/>
        </p:nvPicPr>
        <p:blipFill>
          <a:blip r:embed="rId3">
            <a:alphaModFix/>
          </a:blip>
          <a:stretch>
            <a:fillRect/>
          </a:stretch>
        </p:blipFill>
        <p:spPr>
          <a:xfrm>
            <a:off x="7487875" y="1460800"/>
            <a:ext cx="3619500" cy="4152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adc6aada9f_0_17"/>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Our Findings (3</a:t>
            </a:r>
            <a:r>
              <a:rPr lang="en-US"/>
              <a:t>/6</a:t>
            </a:r>
            <a:r>
              <a:rPr lang="en-US"/>
              <a:t>)</a:t>
            </a:r>
            <a:endParaRPr/>
          </a:p>
        </p:txBody>
      </p:sp>
      <p:sp>
        <p:nvSpPr>
          <p:cNvPr id="168" name="Google Shape;168;g3adc6aada9f_0_17"/>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fontScale="77500" lnSpcReduction="10000"/>
          </a:bodyPr>
          <a:lstStyle/>
          <a:p>
            <a:pPr indent="0" lvl="0" marL="0" rtl="0" algn="l">
              <a:lnSpc>
                <a:spcPct val="115000"/>
              </a:lnSpc>
              <a:spcBef>
                <a:spcPts val="1200"/>
              </a:spcBef>
              <a:spcAft>
                <a:spcPts val="0"/>
              </a:spcAft>
              <a:buNone/>
            </a:pPr>
            <a:r>
              <a:rPr lang="en-US"/>
              <a:t>• The correlation heatmap shows two clear market regimes:</a:t>
            </a:r>
            <a:endParaRPr/>
          </a:p>
          <a:p>
            <a:pPr indent="0" lvl="0" marL="0" rtl="0" algn="l">
              <a:lnSpc>
                <a:spcPct val="115000"/>
              </a:lnSpc>
              <a:spcBef>
                <a:spcPts val="1200"/>
              </a:spcBef>
              <a:spcAft>
                <a:spcPts val="0"/>
              </a:spcAft>
              <a:buClr>
                <a:schemeClr val="dk1"/>
              </a:buClr>
              <a:buSzPct val="57894"/>
              <a:buFont typeface="Arial"/>
              <a:buNone/>
            </a:pPr>
            <a:br>
              <a:rPr lang="en-US"/>
            </a:br>
            <a:r>
              <a:rPr lang="en-US"/>
              <a:t> – A tightly correlated growth/tech cluster (META, NVDA, AAPL, MSFT, AMZN).</a:t>
            </a:r>
            <a:br>
              <a:rPr lang="en-US"/>
            </a:br>
            <a:r>
              <a:rPr lang="en-US"/>
              <a:t> – A lower-correlation cluster of industrial, utility, and financial names (KO, XEL, JPM, WY).</a:t>
            </a:r>
            <a:endParaRPr/>
          </a:p>
          <a:p>
            <a:pPr indent="0" lvl="0" marL="0" rtl="0" algn="l">
              <a:lnSpc>
                <a:spcPct val="115000"/>
              </a:lnSpc>
              <a:spcBef>
                <a:spcPts val="1200"/>
              </a:spcBef>
              <a:spcAft>
                <a:spcPts val="0"/>
              </a:spcAft>
              <a:buClr>
                <a:schemeClr val="dk1"/>
              </a:buClr>
              <a:buSzPct val="57894"/>
              <a:buFont typeface="Arial"/>
              <a:buNone/>
            </a:pPr>
            <a:r>
              <a:rPr lang="en-US"/>
              <a:t>• These regimes indicate that naive equal weighting would unintentionally overweight high-correlation factor exposure.</a:t>
            </a:r>
            <a:endParaRPr/>
          </a:p>
          <a:p>
            <a:pPr indent="0" lvl="0" marL="0" rtl="0" algn="l">
              <a:lnSpc>
                <a:spcPct val="115000"/>
              </a:lnSpc>
              <a:spcBef>
                <a:spcPts val="1200"/>
              </a:spcBef>
              <a:spcAft>
                <a:spcPts val="0"/>
              </a:spcAft>
              <a:buClr>
                <a:schemeClr val="dk1"/>
              </a:buClr>
              <a:buSzPct val="57894"/>
              <a:buFont typeface="Arial"/>
              <a:buNone/>
            </a:pPr>
            <a:r>
              <a:rPr lang="en-US"/>
              <a:t>• The HRP framework helps counter this by penalizing clusters with strong internal co-movement, improving diversification.</a:t>
            </a:r>
            <a:endParaRPr/>
          </a:p>
          <a:p>
            <a:pPr indent="0" lvl="0" marL="0" rtl="0" algn="l">
              <a:lnSpc>
                <a:spcPct val="115000"/>
              </a:lnSpc>
              <a:spcBef>
                <a:spcPts val="1200"/>
              </a:spcBef>
              <a:spcAft>
                <a:spcPts val="0"/>
              </a:spcAft>
              <a:buClr>
                <a:schemeClr val="dk1"/>
              </a:buClr>
              <a:buSzPct val="57894"/>
              <a:buFont typeface="Arial"/>
              <a:buNone/>
            </a:pPr>
            <a:r>
              <a:rPr lang="en-US"/>
              <a:t>• Mapping the correlation structure early validates the use of hierarchical clustering and supports the project’s income+growth portfolio objective.</a:t>
            </a:r>
            <a:endParaRPr/>
          </a:p>
          <a:p>
            <a:pPr indent="0" lvl="0" marL="0" rtl="0" algn="l">
              <a:spcBef>
                <a:spcPts val="1200"/>
              </a:spcBef>
              <a:spcAft>
                <a:spcPts val="1600"/>
              </a:spcAft>
              <a:buNone/>
            </a:pPr>
            <a:r>
              <a:t/>
            </a:r>
            <a:endParaRPr/>
          </a:p>
        </p:txBody>
      </p:sp>
      <p:pic>
        <p:nvPicPr>
          <p:cNvPr id="169" name="Google Shape;169;g3adc6aada9f_0_17"/>
          <p:cNvPicPr preferRelativeResize="0"/>
          <p:nvPr/>
        </p:nvPicPr>
        <p:blipFill>
          <a:blip r:embed="rId3">
            <a:alphaModFix/>
          </a:blip>
          <a:stretch>
            <a:fillRect/>
          </a:stretch>
        </p:blipFill>
        <p:spPr>
          <a:xfrm>
            <a:off x="399650" y="1560500"/>
            <a:ext cx="5556456" cy="4616326"/>
          </a:xfrm>
          <a:prstGeom prst="rect">
            <a:avLst/>
          </a:prstGeom>
          <a:noFill/>
          <a:ln>
            <a:noFill/>
          </a:ln>
        </p:spPr>
      </p:pic>
      <p:sp>
        <p:nvSpPr>
          <p:cNvPr id="170" name="Google Shape;170;g3adc6aada9f_0_17"/>
          <p:cNvSpPr txBox="1"/>
          <p:nvPr>
            <p:ph idx="2" type="body"/>
          </p:nvPr>
        </p:nvSpPr>
        <p:spPr>
          <a:xfrm>
            <a:off x="6183425" y="940200"/>
            <a:ext cx="5333100" cy="4977600"/>
          </a:xfrm>
          <a:prstGeom prst="rect">
            <a:avLst/>
          </a:prstGeom>
        </p:spPr>
        <p:txBody>
          <a:bodyPr anchorCtr="0" anchor="t" bIns="121900" lIns="121900" spcFirstLastPara="1" rIns="121900" wrap="square" tIns="121900">
            <a:noAutofit/>
          </a:bodyPr>
          <a:lstStyle/>
          <a:p>
            <a:pPr indent="0" lvl="0" marL="0" rtl="0" algn="l">
              <a:spcBef>
                <a:spcPts val="1200"/>
              </a:spcBef>
              <a:spcAft>
                <a:spcPts val="0"/>
              </a:spcAft>
              <a:buClr>
                <a:schemeClr val="dk1"/>
              </a:buClr>
              <a:buSzPts val="852"/>
              <a:buFont typeface="Arial"/>
              <a:buNone/>
            </a:pPr>
            <a:r>
              <a:rPr lang="en-US" sz="1772"/>
              <a:t>• The correlation heatmap shows two clear market regimes:</a:t>
            </a:r>
            <a:br>
              <a:rPr lang="en-US" sz="1772"/>
            </a:br>
            <a:r>
              <a:rPr lang="en-US" sz="1772"/>
              <a:t> – A tightly correlated growth/tech cluster (META, NVDA, AAPL, MSFT, AMZN).</a:t>
            </a:r>
            <a:br>
              <a:rPr lang="en-US" sz="1772"/>
            </a:br>
            <a:r>
              <a:rPr lang="en-US" sz="1772"/>
              <a:t> – A lower-correlation cluster of industrial, utility, and financial names (KO, XEL, JPM, WY).</a:t>
            </a:r>
            <a:endParaRPr sz="1772"/>
          </a:p>
          <a:p>
            <a:pPr indent="0" lvl="0" marL="0" rtl="0" algn="l">
              <a:spcBef>
                <a:spcPts val="1200"/>
              </a:spcBef>
              <a:spcAft>
                <a:spcPts val="0"/>
              </a:spcAft>
              <a:buClr>
                <a:schemeClr val="dk1"/>
              </a:buClr>
              <a:buSzPts val="852"/>
              <a:buFont typeface="Arial"/>
              <a:buNone/>
            </a:pPr>
            <a:r>
              <a:rPr lang="en-US" sz="1772"/>
              <a:t>• These regimes indicate that naive equal weighting would unintentionally overweight high-correlation factor exposure.</a:t>
            </a:r>
            <a:endParaRPr sz="1772"/>
          </a:p>
          <a:p>
            <a:pPr indent="0" lvl="0" marL="0" rtl="0" algn="l">
              <a:spcBef>
                <a:spcPts val="1200"/>
              </a:spcBef>
              <a:spcAft>
                <a:spcPts val="0"/>
              </a:spcAft>
              <a:buClr>
                <a:schemeClr val="dk1"/>
              </a:buClr>
              <a:buSzPts val="852"/>
              <a:buFont typeface="Arial"/>
              <a:buNone/>
            </a:pPr>
            <a:r>
              <a:rPr lang="en-US" sz="1772"/>
              <a:t>• The HRP framework helps counter this by penalizing clusters with strong internal co-movement, improving diversification.</a:t>
            </a:r>
            <a:endParaRPr sz="1772"/>
          </a:p>
          <a:p>
            <a:pPr indent="0" lvl="0" marL="0" rtl="0" algn="l">
              <a:spcBef>
                <a:spcPts val="1200"/>
              </a:spcBef>
              <a:spcAft>
                <a:spcPts val="0"/>
              </a:spcAft>
              <a:buClr>
                <a:schemeClr val="dk1"/>
              </a:buClr>
              <a:buSzPts val="852"/>
              <a:buFont typeface="Arial"/>
              <a:buNone/>
            </a:pPr>
            <a:r>
              <a:rPr lang="en-US" sz="1772"/>
              <a:t>• Mapping the correlation structure early validates the use of hierarchical clustering and supports the project’s income+growth portfolio objective.</a:t>
            </a:r>
            <a:endParaRPr sz="1772"/>
          </a:p>
          <a:p>
            <a:pPr indent="0" lvl="0" marL="0" rtl="0" algn="l">
              <a:spcBef>
                <a:spcPts val="1200"/>
              </a:spcBef>
              <a:spcAft>
                <a:spcPts val="1600"/>
              </a:spcAft>
              <a:buSzPts val="852"/>
              <a:buNone/>
            </a:pPr>
            <a:r>
              <a:t/>
            </a:r>
            <a:endParaRPr sz="1772"/>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adc6aada9f_0_24"/>
          <p:cNvSpPr txBox="1"/>
          <p:nvPr>
            <p:ph type="title"/>
          </p:nvPr>
        </p:nvSpPr>
        <p:spPr>
          <a:xfrm>
            <a:off x="955150" y="4999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Our Findings (4/6)</a:t>
            </a:r>
            <a:endParaRPr/>
          </a:p>
        </p:txBody>
      </p:sp>
      <p:sp>
        <p:nvSpPr>
          <p:cNvPr id="176" name="Google Shape;176;g3adc6aada9f_0_24"/>
          <p:cNvSpPr txBox="1"/>
          <p:nvPr>
            <p:ph idx="1" type="body"/>
          </p:nvPr>
        </p:nvSpPr>
        <p:spPr>
          <a:xfrm>
            <a:off x="7542425" y="1253400"/>
            <a:ext cx="4346400" cy="4351200"/>
          </a:xfrm>
          <a:prstGeom prst="rect">
            <a:avLst/>
          </a:prstGeom>
        </p:spPr>
        <p:txBody>
          <a:bodyPr anchorCtr="0" anchor="t" bIns="45700" lIns="91425" spcFirstLastPara="1" rIns="91425" wrap="square" tIns="45700">
            <a:noAutofit/>
          </a:bodyPr>
          <a:lstStyle/>
          <a:p>
            <a:pPr indent="-306387" lvl="0" marL="457200" rtl="0" algn="l">
              <a:lnSpc>
                <a:spcPct val="80000"/>
              </a:lnSpc>
              <a:spcBef>
                <a:spcPts val="1000"/>
              </a:spcBef>
              <a:spcAft>
                <a:spcPts val="0"/>
              </a:spcAft>
              <a:buSzPts val="1225"/>
              <a:buChar char="●"/>
            </a:pPr>
            <a:r>
              <a:rPr lang="en-US" sz="1600"/>
              <a:t>T</a:t>
            </a:r>
            <a:r>
              <a:rPr lang="en-US" sz="1600"/>
              <a:t>he Ward dendrogram reveals a clean, HRP-compatible branching structure for the asset universe.</a:t>
            </a:r>
            <a:endParaRPr sz="1600"/>
          </a:p>
          <a:p>
            <a:pPr indent="-306387" lvl="0" marL="457200" rtl="0" algn="l">
              <a:lnSpc>
                <a:spcPct val="80000"/>
              </a:lnSpc>
              <a:spcBef>
                <a:spcPts val="1000"/>
              </a:spcBef>
              <a:spcAft>
                <a:spcPts val="0"/>
              </a:spcAft>
              <a:buSzPts val="1225"/>
              <a:buChar char="●"/>
            </a:pPr>
            <a:r>
              <a:rPr lang="en-US" sz="1600"/>
              <a:t>A cut level around 7.5 separates the assets into three macro clusters:</a:t>
            </a:r>
            <a:endParaRPr sz="1600"/>
          </a:p>
          <a:p>
            <a:pPr indent="0" lvl="0" marL="457200" rtl="0" algn="l">
              <a:lnSpc>
                <a:spcPct val="80000"/>
              </a:lnSpc>
              <a:spcBef>
                <a:spcPts val="1000"/>
              </a:spcBef>
              <a:spcAft>
                <a:spcPts val="0"/>
              </a:spcAft>
              <a:buSzPts val="688"/>
              <a:buNone/>
            </a:pPr>
            <a:r>
              <a:rPr lang="en-US" sz="1600"/>
              <a:t>– High-growth tech/media names (left branch).</a:t>
            </a:r>
            <a:endParaRPr sz="1600"/>
          </a:p>
          <a:p>
            <a:pPr indent="0" lvl="0" marL="457200" rtl="0" algn="l">
              <a:lnSpc>
                <a:spcPct val="80000"/>
              </a:lnSpc>
              <a:spcBef>
                <a:spcPts val="1000"/>
              </a:spcBef>
              <a:spcAft>
                <a:spcPts val="0"/>
              </a:spcAft>
              <a:buSzPts val="688"/>
              <a:buNone/>
            </a:pPr>
            <a:r>
              <a:rPr lang="en-US" sz="1600"/>
              <a:t>– Payment and finance networks (right branch).</a:t>
            </a:r>
            <a:endParaRPr sz="1600"/>
          </a:p>
          <a:p>
            <a:pPr indent="0" lvl="0" marL="457200" rtl="0" algn="l">
              <a:lnSpc>
                <a:spcPct val="80000"/>
              </a:lnSpc>
              <a:spcBef>
                <a:spcPts val="1000"/>
              </a:spcBef>
              <a:spcAft>
                <a:spcPts val="0"/>
              </a:spcAft>
              <a:buSzPts val="688"/>
              <a:buNone/>
            </a:pPr>
            <a:r>
              <a:rPr lang="en-US" sz="1600"/>
              <a:t>– Defensive and commodity-linked names (center branch).</a:t>
            </a:r>
            <a:endParaRPr sz="1600"/>
          </a:p>
          <a:p>
            <a:pPr indent="-306387" lvl="0" marL="457200" rtl="0" algn="l">
              <a:lnSpc>
                <a:spcPct val="80000"/>
              </a:lnSpc>
              <a:spcBef>
                <a:spcPts val="1000"/>
              </a:spcBef>
              <a:spcAft>
                <a:spcPts val="0"/>
              </a:spcAft>
              <a:buSzPts val="1225"/>
              <a:buChar char="●"/>
            </a:pPr>
            <a:r>
              <a:rPr lang="en-US" sz="1600"/>
              <a:t>These macro clusters determine the order of HRP’s recursive bisection, meaning capital is first allocated across clusters before being distributed within them.</a:t>
            </a:r>
            <a:endParaRPr sz="1600"/>
          </a:p>
          <a:p>
            <a:pPr indent="-306387" lvl="0" marL="457200" rtl="0" algn="l">
              <a:lnSpc>
                <a:spcPct val="80000"/>
              </a:lnSpc>
              <a:spcBef>
                <a:spcPts val="1000"/>
              </a:spcBef>
              <a:spcAft>
                <a:spcPts val="1000"/>
              </a:spcAft>
              <a:buSzPts val="1225"/>
              <a:buChar char="●"/>
            </a:pPr>
            <a:r>
              <a:rPr lang="en-US" sz="1600"/>
              <a:t>This structure supports explainable risk budgeting because stakeholders can trace final weights to clear co-movement patterns rather than opaque optimizer outputs.</a:t>
            </a:r>
            <a:endParaRPr sz="1600"/>
          </a:p>
        </p:txBody>
      </p:sp>
      <p:pic>
        <p:nvPicPr>
          <p:cNvPr id="177" name="Google Shape;177;g3adc6aada9f_0_24"/>
          <p:cNvPicPr preferRelativeResize="0"/>
          <p:nvPr/>
        </p:nvPicPr>
        <p:blipFill>
          <a:blip r:embed="rId3">
            <a:alphaModFix/>
          </a:blip>
          <a:stretch>
            <a:fillRect/>
          </a:stretch>
        </p:blipFill>
        <p:spPr>
          <a:xfrm>
            <a:off x="155850" y="1825630"/>
            <a:ext cx="7386577" cy="3060625"/>
          </a:xfrm>
          <a:prstGeom prst="rect">
            <a:avLst/>
          </a:prstGeom>
          <a:noFill/>
          <a:ln>
            <a:noFill/>
          </a:ln>
        </p:spPr>
      </p:pic>
      <p:cxnSp>
        <p:nvCxnSpPr>
          <p:cNvPr id="178" name="Google Shape;178;g3adc6aada9f_0_24"/>
          <p:cNvCxnSpPr/>
          <p:nvPr/>
        </p:nvCxnSpPr>
        <p:spPr>
          <a:xfrm>
            <a:off x="634600" y="2725325"/>
            <a:ext cx="6835800" cy="22200"/>
          </a:xfrm>
          <a:prstGeom prst="straightConnector1">
            <a:avLst/>
          </a:prstGeom>
          <a:noFill/>
          <a:ln cap="flat" cmpd="sng" w="9525">
            <a:solidFill>
              <a:srgbClr val="FF0000"/>
            </a:solidFill>
            <a:prstDash val="lgDash"/>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adc6aada9f_0_255"/>
          <p:cNvSpPr txBox="1"/>
          <p:nvPr>
            <p:ph type="title"/>
          </p:nvPr>
        </p:nvSpPr>
        <p:spPr>
          <a:xfrm>
            <a:off x="955150" y="4999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Our Findings (5/6)</a:t>
            </a:r>
            <a:endParaRPr/>
          </a:p>
        </p:txBody>
      </p:sp>
      <p:pic>
        <p:nvPicPr>
          <p:cNvPr id="184" name="Google Shape;184;g3adc6aada9f_0_255"/>
          <p:cNvPicPr preferRelativeResize="0"/>
          <p:nvPr/>
        </p:nvPicPr>
        <p:blipFill>
          <a:blip r:embed="rId3">
            <a:alphaModFix/>
          </a:blip>
          <a:stretch>
            <a:fillRect/>
          </a:stretch>
        </p:blipFill>
        <p:spPr>
          <a:xfrm>
            <a:off x="955150" y="2317150"/>
            <a:ext cx="1333500" cy="3914775"/>
          </a:xfrm>
          <a:prstGeom prst="rect">
            <a:avLst/>
          </a:prstGeom>
          <a:noFill/>
          <a:ln>
            <a:noFill/>
          </a:ln>
        </p:spPr>
      </p:pic>
      <p:pic>
        <p:nvPicPr>
          <p:cNvPr id="185" name="Google Shape;185;g3adc6aada9f_0_255"/>
          <p:cNvPicPr preferRelativeResize="0"/>
          <p:nvPr/>
        </p:nvPicPr>
        <p:blipFill>
          <a:blip r:embed="rId4">
            <a:alphaModFix/>
          </a:blip>
          <a:stretch>
            <a:fillRect/>
          </a:stretch>
        </p:blipFill>
        <p:spPr>
          <a:xfrm>
            <a:off x="6778575" y="772650"/>
            <a:ext cx="4425550" cy="1052975"/>
          </a:xfrm>
          <a:prstGeom prst="rect">
            <a:avLst/>
          </a:prstGeom>
          <a:noFill/>
          <a:ln>
            <a:noFill/>
          </a:ln>
        </p:spPr>
      </p:pic>
      <p:sp>
        <p:nvSpPr>
          <p:cNvPr id="186" name="Google Shape;186;g3adc6aada9f_0_255"/>
          <p:cNvSpPr txBox="1"/>
          <p:nvPr/>
        </p:nvSpPr>
        <p:spPr>
          <a:xfrm>
            <a:off x="2673013" y="1565525"/>
            <a:ext cx="3721200" cy="48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2"/>
                </a:solidFill>
              </a:rPr>
              <a:t>HRP vs. Min_Varience</a:t>
            </a:r>
            <a:endParaRPr b="1" sz="2400">
              <a:solidFill>
                <a:schemeClr val="dk2"/>
              </a:solidFill>
            </a:endParaRPr>
          </a:p>
          <a:p>
            <a:pPr indent="0" lvl="0" marL="0" rtl="0" algn="l">
              <a:spcBef>
                <a:spcPts val="0"/>
              </a:spcBef>
              <a:spcAft>
                <a:spcPts val="0"/>
              </a:spcAft>
              <a:buClr>
                <a:schemeClr val="dk1"/>
              </a:buClr>
              <a:buSzPts val="1100"/>
              <a:buFont typeface="Arial"/>
              <a:buNone/>
            </a:pPr>
            <a:r>
              <a:rPr lang="en-US" sz="1600">
                <a:solidFill>
                  <a:schemeClr val="dk2"/>
                </a:solidFill>
              </a:rPr>
              <a:t>• HRP reallocates weight away from the tightly correlated tech cluster.</a:t>
            </a:r>
            <a:endParaRPr sz="1600">
              <a:solidFill>
                <a:schemeClr val="dk2"/>
              </a:solidFill>
            </a:endParaRPr>
          </a:p>
          <a:p>
            <a:pPr indent="0" lvl="0" marL="0" rtl="0" algn="l">
              <a:spcBef>
                <a:spcPts val="1000"/>
              </a:spcBef>
              <a:spcAft>
                <a:spcPts val="0"/>
              </a:spcAft>
              <a:buClr>
                <a:schemeClr val="dk1"/>
              </a:buClr>
              <a:buSzPts val="1100"/>
              <a:buFont typeface="Arial"/>
              <a:buNone/>
            </a:pPr>
            <a:r>
              <a:rPr lang="en-US" sz="1600">
                <a:solidFill>
                  <a:schemeClr val="dk2"/>
                </a:solidFill>
              </a:rPr>
              <a:t>• No individual FAANG name exceeds roughly 7% weight under HRP.</a:t>
            </a:r>
            <a:endParaRPr sz="1600">
              <a:solidFill>
                <a:schemeClr val="dk2"/>
              </a:solidFill>
            </a:endParaRPr>
          </a:p>
          <a:p>
            <a:pPr indent="0" lvl="0" marL="0" rtl="0" algn="l">
              <a:spcBef>
                <a:spcPts val="1000"/>
              </a:spcBef>
              <a:spcAft>
                <a:spcPts val="0"/>
              </a:spcAft>
              <a:buClr>
                <a:schemeClr val="dk1"/>
              </a:buClr>
              <a:buSzPts val="1100"/>
              <a:buFont typeface="Arial"/>
              <a:buNone/>
            </a:pPr>
            <a:r>
              <a:rPr lang="en-US" sz="1600">
                <a:solidFill>
                  <a:schemeClr val="dk2"/>
                </a:solidFill>
              </a:rPr>
              <a:t>• In contrast, the minimum-variance portfolio concentrates heavily in that same cluster because it only minimizes variance under long-only constraints.</a:t>
            </a:r>
            <a:endParaRPr sz="1600">
              <a:solidFill>
                <a:schemeClr val="dk2"/>
              </a:solidFill>
            </a:endParaRPr>
          </a:p>
          <a:p>
            <a:pPr indent="0" lvl="0" marL="0" rtl="0" algn="l">
              <a:spcBef>
                <a:spcPts val="1000"/>
              </a:spcBef>
              <a:spcAft>
                <a:spcPts val="0"/>
              </a:spcAft>
              <a:buClr>
                <a:schemeClr val="dk1"/>
              </a:buClr>
              <a:buSzPts val="1100"/>
              <a:buFont typeface="Arial"/>
              <a:buNone/>
            </a:pPr>
            <a:r>
              <a:rPr lang="en-US" sz="1600">
                <a:solidFill>
                  <a:schemeClr val="dk2"/>
                </a:solidFill>
              </a:rPr>
              <a:t>• The dendrogram-aware structure of HRP effectively imposes natural cluster caps without requiring manual constraints.</a:t>
            </a:r>
            <a:endParaRPr sz="1600">
              <a:solidFill>
                <a:schemeClr val="dk2"/>
              </a:solidFill>
            </a:endParaRPr>
          </a:p>
          <a:p>
            <a:pPr indent="0" lvl="0" marL="0" rtl="0" algn="l">
              <a:spcBef>
                <a:spcPts val="1000"/>
              </a:spcBef>
              <a:spcAft>
                <a:spcPts val="1000"/>
              </a:spcAft>
              <a:buNone/>
            </a:pPr>
            <a:r>
              <a:rPr lang="en-US" sz="1600">
                <a:solidFill>
                  <a:schemeClr val="dk2"/>
                </a:solidFill>
              </a:rPr>
              <a:t>• This supports the project objective of avoiding hidden factor concentration while still maintaining exposure to historically stable large-cap names.</a:t>
            </a:r>
            <a:endParaRPr sz="1600">
              <a:solidFill>
                <a:schemeClr val="dk2"/>
              </a:solidFill>
            </a:endParaRPr>
          </a:p>
        </p:txBody>
      </p:sp>
      <p:sp>
        <p:nvSpPr>
          <p:cNvPr id="187" name="Google Shape;187;g3adc6aada9f_0_255"/>
          <p:cNvSpPr txBox="1"/>
          <p:nvPr/>
        </p:nvSpPr>
        <p:spPr>
          <a:xfrm>
            <a:off x="6594650" y="2281013"/>
            <a:ext cx="4793400" cy="414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solidFill>
                  <a:schemeClr val="dk2"/>
                </a:solidFill>
              </a:rPr>
              <a:t>Sharpe &amp; </a:t>
            </a:r>
            <a:r>
              <a:rPr b="1" lang="en-US" sz="2400">
                <a:solidFill>
                  <a:schemeClr val="dk2"/>
                </a:solidFill>
              </a:rPr>
              <a:t>Volatility</a:t>
            </a:r>
            <a:r>
              <a:rPr lang="en-US" sz="2400">
                <a:solidFill>
                  <a:schemeClr val="dk2"/>
                </a:solidFill>
              </a:rPr>
              <a:t> </a:t>
            </a:r>
            <a:endParaRPr sz="2400">
              <a:solidFill>
                <a:schemeClr val="dk2"/>
              </a:solidFill>
            </a:endParaRPr>
          </a:p>
          <a:p>
            <a:pPr indent="0" lvl="0" marL="0" rtl="0" algn="l">
              <a:spcBef>
                <a:spcPts val="0"/>
              </a:spcBef>
              <a:spcAft>
                <a:spcPts val="0"/>
              </a:spcAft>
              <a:buNone/>
            </a:pPr>
            <a:r>
              <a:rPr lang="en-US" sz="1600">
                <a:solidFill>
                  <a:schemeClr val="dk2"/>
                </a:solidFill>
              </a:rPr>
              <a:t>• HRP delivers a slightly higher Sharpe ratio and a noticeably shallower max drawdown, based on the metrics reported in Cell 20.</a:t>
            </a:r>
            <a:endParaRPr sz="1600">
              <a:solidFill>
                <a:schemeClr val="dk2"/>
              </a:solidFill>
            </a:endParaRPr>
          </a:p>
          <a:p>
            <a:pPr indent="0" lvl="0" marL="0" rtl="0" algn="l">
              <a:spcBef>
                <a:spcPts val="1000"/>
              </a:spcBef>
              <a:spcAft>
                <a:spcPts val="0"/>
              </a:spcAft>
              <a:buNone/>
            </a:pPr>
            <a:r>
              <a:rPr lang="en-US" sz="1600">
                <a:solidFill>
                  <a:schemeClr val="dk2"/>
                </a:solidFill>
              </a:rPr>
              <a:t>• The cumulative growth plot in Cell 21 shows HRP outperforming during broad market selloffs, reflecting its stronger downside protection.</a:t>
            </a:r>
            <a:endParaRPr sz="1600">
              <a:solidFill>
                <a:schemeClr val="dk2"/>
              </a:solidFill>
            </a:endParaRPr>
          </a:p>
          <a:p>
            <a:pPr indent="0" lvl="0" marL="0" rtl="0" algn="l">
              <a:spcBef>
                <a:spcPts val="1000"/>
              </a:spcBef>
              <a:spcAft>
                <a:spcPts val="0"/>
              </a:spcAft>
              <a:buNone/>
            </a:pPr>
            <a:r>
              <a:rPr lang="en-US" sz="1600">
                <a:solidFill>
                  <a:schemeClr val="dk2"/>
                </a:solidFill>
              </a:rPr>
              <a:t>• This resilience comes from cluster diversification, no single sector or regime dominates the portfolio’s return path.</a:t>
            </a:r>
            <a:endParaRPr sz="1600">
              <a:solidFill>
                <a:schemeClr val="dk2"/>
              </a:solidFill>
            </a:endParaRPr>
          </a:p>
          <a:p>
            <a:pPr indent="0" lvl="0" marL="0" rtl="0" algn="l">
              <a:spcBef>
                <a:spcPts val="1000"/>
              </a:spcBef>
              <a:spcAft>
                <a:spcPts val="1000"/>
              </a:spcAft>
              <a:buNone/>
            </a:pPr>
            <a:r>
              <a:rPr lang="en-US" sz="1600">
                <a:solidFill>
                  <a:schemeClr val="dk2"/>
                </a:solidFill>
              </a:rPr>
              <a:t>• These results support the central project claim that hierarchical clustering produces more stable portfolios without giving up long-term growth potential.</a:t>
            </a:r>
            <a:endParaRPr sz="16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adc6aada9f_0_261"/>
          <p:cNvSpPr txBox="1"/>
          <p:nvPr>
            <p:ph type="title"/>
          </p:nvPr>
        </p:nvSpPr>
        <p:spPr>
          <a:xfrm>
            <a:off x="955150" y="4999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Our Findings (6/6)</a:t>
            </a:r>
            <a:endParaRPr/>
          </a:p>
        </p:txBody>
      </p:sp>
      <p:pic>
        <p:nvPicPr>
          <p:cNvPr id="193" name="Google Shape;193;g3adc6aada9f_0_261"/>
          <p:cNvPicPr preferRelativeResize="0"/>
          <p:nvPr/>
        </p:nvPicPr>
        <p:blipFill>
          <a:blip r:embed="rId3">
            <a:alphaModFix/>
          </a:blip>
          <a:stretch>
            <a:fillRect/>
          </a:stretch>
        </p:blipFill>
        <p:spPr>
          <a:xfrm>
            <a:off x="240750" y="1773850"/>
            <a:ext cx="6862099" cy="3310300"/>
          </a:xfrm>
          <a:prstGeom prst="rect">
            <a:avLst/>
          </a:prstGeom>
          <a:noFill/>
          <a:ln>
            <a:noFill/>
          </a:ln>
        </p:spPr>
      </p:pic>
      <p:pic>
        <p:nvPicPr>
          <p:cNvPr id="194" name="Google Shape;194;g3adc6aada9f_0_261"/>
          <p:cNvPicPr preferRelativeResize="0"/>
          <p:nvPr/>
        </p:nvPicPr>
        <p:blipFill>
          <a:blip r:embed="rId4">
            <a:alphaModFix/>
          </a:blip>
          <a:stretch>
            <a:fillRect/>
          </a:stretch>
        </p:blipFill>
        <p:spPr>
          <a:xfrm>
            <a:off x="955150" y="5333425"/>
            <a:ext cx="2705725" cy="665800"/>
          </a:xfrm>
          <a:prstGeom prst="rect">
            <a:avLst/>
          </a:prstGeom>
          <a:noFill/>
          <a:ln>
            <a:noFill/>
          </a:ln>
        </p:spPr>
      </p:pic>
      <p:sp>
        <p:nvSpPr>
          <p:cNvPr id="195" name="Google Shape;195;g3adc6aada9f_0_261"/>
          <p:cNvSpPr txBox="1"/>
          <p:nvPr/>
        </p:nvSpPr>
        <p:spPr>
          <a:xfrm>
            <a:off x="7545700" y="1564975"/>
            <a:ext cx="4316700" cy="50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2"/>
                </a:solidFill>
              </a:rPr>
              <a:t>Main Takeaway</a:t>
            </a:r>
            <a:endParaRPr b="1" sz="2400">
              <a:solidFill>
                <a:schemeClr val="dk2"/>
              </a:solidFill>
            </a:endParaRPr>
          </a:p>
          <a:p>
            <a:pPr indent="0" lvl="0" marL="0" rtl="0" algn="l">
              <a:spcBef>
                <a:spcPts val="0"/>
              </a:spcBef>
              <a:spcAft>
                <a:spcPts val="0"/>
              </a:spcAft>
              <a:buClr>
                <a:schemeClr val="dk1"/>
              </a:buClr>
              <a:buSzPts val="1100"/>
              <a:buFont typeface="Arial"/>
              <a:buNone/>
            </a:pPr>
            <a:r>
              <a:rPr lang="en-US" sz="1600">
                <a:solidFill>
                  <a:schemeClr val="dk2"/>
                </a:solidFill>
              </a:rPr>
              <a:t>• HRP naturally limits exposure to highly correlated clusters, keeping tech weights lower than the minimum-variance solution.</a:t>
            </a:r>
            <a:endParaRPr sz="1600">
              <a:solidFill>
                <a:schemeClr val="dk2"/>
              </a:solidFill>
            </a:endParaRPr>
          </a:p>
          <a:p>
            <a:pPr indent="0" lvl="0" marL="0" rtl="0" algn="l">
              <a:spcBef>
                <a:spcPts val="1000"/>
              </a:spcBef>
              <a:spcAft>
                <a:spcPts val="0"/>
              </a:spcAft>
              <a:buClr>
                <a:schemeClr val="dk1"/>
              </a:buClr>
              <a:buSzPts val="1100"/>
              <a:buFont typeface="Arial"/>
              <a:buNone/>
            </a:pPr>
            <a:r>
              <a:rPr lang="en-US" sz="1600">
                <a:solidFill>
                  <a:schemeClr val="dk2"/>
                </a:solidFill>
              </a:rPr>
              <a:t>• This structure results in slightly reduced volatility and shallower drawdowns while maintaining competitive returns.</a:t>
            </a:r>
            <a:endParaRPr sz="1600">
              <a:solidFill>
                <a:schemeClr val="dk2"/>
              </a:solidFill>
            </a:endParaRPr>
          </a:p>
          <a:p>
            <a:pPr indent="0" lvl="0" marL="0" rtl="0" algn="l">
              <a:spcBef>
                <a:spcPts val="1000"/>
              </a:spcBef>
              <a:spcAft>
                <a:spcPts val="0"/>
              </a:spcAft>
              <a:buClr>
                <a:schemeClr val="dk1"/>
              </a:buClr>
              <a:buSzPts val="1100"/>
              <a:buFont typeface="Arial"/>
              <a:buNone/>
            </a:pPr>
            <a:r>
              <a:rPr lang="en-US" sz="1600">
                <a:solidFill>
                  <a:schemeClr val="dk2"/>
                </a:solidFill>
              </a:rPr>
              <a:t>• The cumulative growth chart shows HRP pulling away during market stress periods, highlighting its defensive strength.</a:t>
            </a:r>
            <a:endParaRPr sz="1600">
              <a:solidFill>
                <a:schemeClr val="dk2"/>
              </a:solidFill>
            </a:endParaRPr>
          </a:p>
          <a:p>
            <a:pPr indent="0" lvl="0" marL="0" rtl="0" algn="l">
              <a:spcBef>
                <a:spcPts val="1000"/>
              </a:spcBef>
              <a:spcAft>
                <a:spcPts val="0"/>
              </a:spcAft>
              <a:buClr>
                <a:schemeClr val="dk1"/>
              </a:buClr>
              <a:buSzPts val="1100"/>
              <a:buFont typeface="Arial"/>
              <a:buNone/>
            </a:pPr>
            <a:r>
              <a:rPr lang="en-US" sz="1600">
                <a:solidFill>
                  <a:schemeClr val="dk2"/>
                </a:solidFill>
              </a:rPr>
              <a:t>• Cluster-aware diversification enhances resilience without giving up meaningful upside.</a:t>
            </a:r>
            <a:endParaRPr sz="1600">
              <a:solidFill>
                <a:schemeClr val="dk2"/>
              </a:solidFill>
            </a:endParaRPr>
          </a:p>
          <a:p>
            <a:pPr indent="0" lvl="0" marL="0" rtl="0" algn="l">
              <a:spcBef>
                <a:spcPts val="1000"/>
              </a:spcBef>
              <a:spcAft>
                <a:spcPts val="1000"/>
              </a:spcAft>
              <a:buNone/>
            </a:pPr>
            <a:r>
              <a:rPr lang="en-US" sz="1600">
                <a:solidFill>
                  <a:schemeClr val="dk2"/>
                </a:solidFill>
              </a:rPr>
              <a:t>• These outcomes align with the project goal of constructing a balanced, transparent, and explainable allocation.</a:t>
            </a:r>
            <a:endParaRPr sz="16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References</a:t>
            </a:r>
            <a:endParaRPr b="1"/>
          </a:p>
        </p:txBody>
      </p:sp>
      <p:sp>
        <p:nvSpPr>
          <p:cNvPr id="201" name="Google Shape;201;p16"/>
          <p:cNvSpPr txBox="1"/>
          <p:nvPr/>
        </p:nvSpPr>
        <p:spPr>
          <a:xfrm>
            <a:off x="968925" y="1757200"/>
            <a:ext cx="9459300" cy="532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700">
                <a:solidFill>
                  <a:schemeClr val="dk1"/>
                </a:solidFill>
              </a:rPr>
              <a:t>StrategyQuant. (n.d.). </a:t>
            </a:r>
            <a:r>
              <a:rPr i="1" lang="en-US" sz="1700">
                <a:solidFill>
                  <a:schemeClr val="dk1"/>
                </a:solidFill>
              </a:rPr>
              <a:t>User’s Guide: Walk-Forward Optimization</a:t>
            </a:r>
            <a:r>
              <a:rPr lang="en-US" sz="1700">
                <a:solidFill>
                  <a:schemeClr val="dk1"/>
                </a:solidFill>
              </a:rPr>
              <a:t>. StrategyQuant. Retrieved November 10, 2025, from</a:t>
            </a:r>
            <a:r>
              <a:rPr lang="en-US" sz="1700">
                <a:solidFill>
                  <a:schemeClr val="dk1"/>
                </a:solidFill>
                <a:uFill>
                  <a:noFill/>
                </a:uFill>
                <a:hlinkClick r:id="rId3">
                  <a:extLst>
                    <a:ext uri="{A12FA001-AC4F-418D-AE19-62706E023703}">
                      <ahyp:hlinkClr val="tx"/>
                    </a:ext>
                  </a:extLst>
                </a:hlinkClick>
              </a:rPr>
              <a:t> </a:t>
            </a:r>
            <a:r>
              <a:rPr lang="en-US" sz="1700" u="sng">
                <a:solidFill>
                  <a:schemeClr val="hlink"/>
                </a:solidFill>
                <a:hlinkClick r:id="rId4"/>
              </a:rPr>
              <a:t>https://strategyquant.com/doc/strategyquant/walk-forward-optimization/</a:t>
            </a:r>
            <a:br>
              <a:rPr lang="en-US" sz="1700" u="sng">
                <a:solidFill>
                  <a:schemeClr val="hlink"/>
                </a:solidFill>
                <a:hlinkClick r:id="rId5"/>
              </a:rPr>
            </a:br>
            <a:endParaRPr sz="1700" u="sng">
              <a:solidFill>
                <a:schemeClr val="hlink"/>
              </a:solidFill>
            </a:endParaRPr>
          </a:p>
          <a:p>
            <a:pPr indent="0" lvl="0" marL="0" rtl="0" algn="l">
              <a:spcBef>
                <a:spcPts val="0"/>
              </a:spcBef>
              <a:spcAft>
                <a:spcPts val="0"/>
              </a:spcAft>
              <a:buClr>
                <a:schemeClr val="dk1"/>
              </a:buClr>
              <a:buSzPts val="1100"/>
              <a:buFont typeface="Arial"/>
              <a:buNone/>
            </a:pPr>
            <a:r>
              <a:rPr lang="en-US" sz="1700">
                <a:solidFill>
                  <a:schemeClr val="dk1"/>
                </a:solidFill>
              </a:rPr>
              <a:t>Martin, R. A. (2018–2025). </a:t>
            </a:r>
            <a:r>
              <a:rPr i="1" lang="en-US" sz="1700">
                <a:solidFill>
                  <a:schemeClr val="dk1"/>
                </a:solidFill>
              </a:rPr>
              <a:t>PyPortfolioOpt documentation</a:t>
            </a:r>
            <a:r>
              <a:rPr lang="en-US" sz="1700">
                <a:solidFill>
                  <a:schemeClr val="dk1"/>
                </a:solidFill>
              </a:rPr>
              <a:t> (v1.5.4). Read the Docs. Retrieved November 10, 2025, from</a:t>
            </a:r>
            <a:r>
              <a:rPr lang="en-US" sz="1700">
                <a:solidFill>
                  <a:schemeClr val="dk1"/>
                </a:solidFill>
                <a:uFill>
                  <a:noFill/>
                </a:uFill>
                <a:hlinkClick r:id="rId6">
                  <a:extLst>
                    <a:ext uri="{A12FA001-AC4F-418D-AE19-62706E023703}">
                      <ahyp:hlinkClr val="tx"/>
                    </a:ext>
                  </a:extLst>
                </a:hlinkClick>
              </a:rPr>
              <a:t> </a:t>
            </a:r>
            <a:r>
              <a:rPr lang="en-US" sz="1700" u="sng">
                <a:solidFill>
                  <a:schemeClr val="hlink"/>
                </a:solidFill>
                <a:hlinkClick r:id="rId7"/>
              </a:rPr>
              <a:t>https://pyportfolioopt.readthedocs.io/en/latest/</a:t>
            </a:r>
            <a:br>
              <a:rPr lang="en-US" sz="1700" u="sng">
                <a:solidFill>
                  <a:schemeClr val="hlink"/>
                </a:solidFill>
                <a:hlinkClick r:id="rId8"/>
              </a:rPr>
            </a:br>
            <a:endParaRPr sz="1700" u="sng">
              <a:solidFill>
                <a:schemeClr val="hlink"/>
              </a:solidFill>
            </a:endParaRPr>
          </a:p>
          <a:p>
            <a:pPr indent="0" lvl="0" marL="0" rtl="0" algn="l">
              <a:spcBef>
                <a:spcPts val="0"/>
              </a:spcBef>
              <a:spcAft>
                <a:spcPts val="0"/>
              </a:spcAft>
              <a:buClr>
                <a:schemeClr val="dk1"/>
              </a:buClr>
              <a:buSzPts val="1100"/>
              <a:buFont typeface="Arial"/>
              <a:buNone/>
            </a:pPr>
            <a:r>
              <a:rPr lang="en-US" sz="1700">
                <a:solidFill>
                  <a:schemeClr val="dk1"/>
                </a:solidFill>
              </a:rPr>
              <a:t>López de Prado, M. (2018). </a:t>
            </a:r>
            <a:r>
              <a:rPr i="1" lang="en-US" sz="1700">
                <a:solidFill>
                  <a:schemeClr val="dk1"/>
                </a:solidFill>
              </a:rPr>
              <a:t>Hierarchical Risk Parity: Building Portfolios that Perform Well Out-of-Sample</a:t>
            </a:r>
            <a:r>
              <a:rPr lang="en-US" sz="1700">
                <a:solidFill>
                  <a:schemeClr val="dk1"/>
                </a:solidFill>
              </a:rPr>
              <a:t>. SSRN Electronic Journal.</a:t>
            </a:r>
            <a:r>
              <a:rPr lang="en-US" sz="1700">
                <a:solidFill>
                  <a:schemeClr val="dk1"/>
                </a:solidFill>
                <a:uFill>
                  <a:noFill/>
                </a:uFill>
                <a:hlinkClick r:id="rId9">
                  <a:extLst>
                    <a:ext uri="{A12FA001-AC4F-418D-AE19-62706E023703}">
                      <ahyp:hlinkClr val="tx"/>
                    </a:ext>
                  </a:extLst>
                </a:hlinkClick>
              </a:rPr>
              <a:t> </a:t>
            </a:r>
            <a:r>
              <a:rPr lang="en-US" sz="1700" u="sng">
                <a:solidFill>
                  <a:schemeClr val="hlink"/>
                </a:solidFill>
                <a:hlinkClick r:id="rId10"/>
              </a:rPr>
              <a:t>https://papers.ssrn.com/sol3/papers.cfm?abstract_id=2708678</a:t>
            </a:r>
            <a:r>
              <a:rPr lang="en-US" sz="1700">
                <a:solidFill>
                  <a:schemeClr val="dk1"/>
                </a:solidFill>
              </a:rPr>
              <a:t> (Original version 2016; last revised 2018.)</a:t>
            </a:r>
            <a:br>
              <a:rPr lang="en-US" sz="1700">
                <a:solidFill>
                  <a:schemeClr val="dk1"/>
                </a:solidFill>
              </a:rPr>
            </a:br>
            <a:endParaRPr sz="1700">
              <a:solidFill>
                <a:schemeClr val="dk1"/>
              </a:solidFill>
            </a:endParaRPr>
          </a:p>
          <a:p>
            <a:pPr indent="0" lvl="0" marL="0" rtl="0" algn="l">
              <a:spcBef>
                <a:spcPts val="0"/>
              </a:spcBef>
              <a:spcAft>
                <a:spcPts val="0"/>
              </a:spcAft>
              <a:buClr>
                <a:schemeClr val="dk1"/>
              </a:buClr>
              <a:buSzPts val="1100"/>
              <a:buFont typeface="Arial"/>
              <a:buNone/>
            </a:pPr>
            <a:r>
              <a:rPr lang="en-US" sz="1700">
                <a:solidFill>
                  <a:schemeClr val="dk1"/>
                </a:solidFill>
              </a:rPr>
              <a:t>LSESU Data Science Society. (2021, March 1). </a:t>
            </a:r>
            <a:r>
              <a:rPr i="1" lang="en-US" sz="1700">
                <a:solidFill>
                  <a:schemeClr val="dk1"/>
                </a:solidFill>
              </a:rPr>
              <a:t>Portfolio Optimization — </a:t>
            </a:r>
            <a:r>
              <a:rPr i="1" lang="en-US" sz="1700">
                <a:solidFill>
                  <a:schemeClr val="dk1"/>
                </a:solidFill>
              </a:rPr>
              <a:t>Hierarchical</a:t>
            </a:r>
            <a:r>
              <a:rPr i="1" lang="en-US" sz="1700">
                <a:solidFill>
                  <a:schemeClr val="dk1"/>
                </a:solidFill>
              </a:rPr>
              <a:t> Risk Parity</a:t>
            </a:r>
            <a:r>
              <a:rPr lang="en-US" sz="1700">
                <a:solidFill>
                  <a:schemeClr val="dk1"/>
                </a:solidFill>
              </a:rPr>
              <a:t>.</a:t>
            </a:r>
            <a:r>
              <a:rPr lang="en-US" sz="1700">
                <a:solidFill>
                  <a:schemeClr val="dk1"/>
                </a:solidFill>
                <a:uFill>
                  <a:noFill/>
                </a:uFill>
                <a:hlinkClick r:id="rId11">
                  <a:extLst>
                    <a:ext uri="{A12FA001-AC4F-418D-AE19-62706E023703}">
                      <ahyp:hlinkClr val="tx"/>
                    </a:ext>
                  </a:extLst>
                </a:hlinkClick>
              </a:rPr>
              <a:t> </a:t>
            </a:r>
            <a:r>
              <a:rPr lang="en-US" sz="1700" u="sng">
                <a:solidFill>
                  <a:schemeClr val="hlink"/>
                </a:solidFill>
                <a:hlinkClick r:id="rId12"/>
              </a:rPr>
              <a:t>https://dsatlse.github.io/projects/2020/hrp/</a:t>
            </a:r>
            <a:r>
              <a:rPr lang="en-US" sz="1700">
                <a:solidFill>
                  <a:schemeClr val="dk1"/>
                </a:solidFill>
                <a:uFill>
                  <a:noFill/>
                </a:uFill>
                <a:hlinkClick r:id="rId13">
                  <a:extLst>
                    <a:ext uri="{A12FA001-AC4F-418D-AE19-62706E023703}">
                      <ahyp:hlinkClr val="tx"/>
                    </a:ext>
                  </a:extLst>
                </a:hlinkClick>
              </a:rPr>
              <a:t> </a:t>
            </a:r>
            <a:r>
              <a:rPr lang="en-US" sz="1700" u="sng">
                <a:solidFill>
                  <a:schemeClr val="hlink"/>
                </a:solidFill>
                <a:hlinkClick r:id="rId14"/>
              </a:rPr>
              <a:t>dsatlse.github.io</a:t>
            </a:r>
            <a:br>
              <a:rPr lang="en-US" sz="1700" u="sng">
                <a:solidFill>
                  <a:schemeClr val="hlink"/>
                </a:solidFill>
                <a:hlinkClick r:id="rId15"/>
              </a:rPr>
            </a:br>
            <a:endParaRPr sz="1700" u="sng">
              <a:solidFill>
                <a:schemeClr val="hlink"/>
              </a:solidFill>
            </a:endParaRPr>
          </a:p>
          <a:p>
            <a:pPr indent="0" lvl="0" marL="0" rtl="0" algn="l">
              <a:spcBef>
                <a:spcPts val="0"/>
              </a:spcBef>
              <a:spcAft>
                <a:spcPts val="0"/>
              </a:spcAft>
              <a:buClr>
                <a:schemeClr val="dk1"/>
              </a:buClr>
              <a:buSzPts val="1100"/>
              <a:buFont typeface="Arial"/>
              <a:buNone/>
            </a:pPr>
            <a:r>
              <a:rPr lang="en-US" sz="1700">
                <a:solidFill>
                  <a:schemeClr val="dk1"/>
                </a:solidFill>
              </a:rPr>
              <a:t>Portfolio Optimizer. (2021, October 17). </a:t>
            </a:r>
            <a:r>
              <a:rPr i="1" lang="en-US" sz="1700">
                <a:solidFill>
                  <a:schemeClr val="dk1"/>
                </a:solidFill>
              </a:rPr>
              <a:t>Beyond hierarchical risk parity — hierarchical clustering-based risk parity</a:t>
            </a:r>
            <a:r>
              <a:rPr lang="en-US" sz="1700">
                <a:solidFill>
                  <a:schemeClr val="dk1"/>
                </a:solidFill>
              </a:rPr>
              <a:t>.</a:t>
            </a:r>
            <a:r>
              <a:rPr lang="en-US" sz="1700">
                <a:solidFill>
                  <a:schemeClr val="dk1"/>
                </a:solidFill>
                <a:uFill>
                  <a:noFill/>
                </a:uFill>
                <a:hlinkClick r:id="rId16">
                  <a:extLst>
                    <a:ext uri="{A12FA001-AC4F-418D-AE19-62706E023703}">
                      <ahyp:hlinkClr val="tx"/>
                    </a:ext>
                  </a:extLst>
                </a:hlinkClick>
              </a:rPr>
              <a:t> </a:t>
            </a:r>
            <a:r>
              <a:rPr lang="en-US" sz="1700" u="sng">
                <a:solidFill>
                  <a:schemeClr val="hlink"/>
                </a:solidFill>
                <a:hlinkClick r:id="rId17"/>
              </a:rPr>
              <a:t>https://portfoliooptimizer.io/blog/beyond-hierarchical-risk-parity-hierarchical-clustering-based-risk-parity/</a:t>
            </a:r>
            <a:endParaRPr sz="1700" u="sng">
              <a:solidFill>
                <a:schemeClr val="hlink"/>
              </a:solidFill>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2025-10-31T21:14:14Z</dcterms:created>
  <dc:creator>Haoyang Zhang</dc:creator>
</cp:coreProperties>
</file>